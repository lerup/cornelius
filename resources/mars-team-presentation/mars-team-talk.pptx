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A2B6"/>
    <a:srgbClr val="5A6A5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5"/>
    <p:restoredTop sz="94638"/>
  </p:normalViewPr>
  <p:slideViewPr>
    <p:cSldViewPr snapToGrid="0" snapToObjects="1">
      <p:cViewPr>
        <p:scale>
          <a:sx n="86" d="100"/>
          <a:sy n="86" d="100"/>
        </p:scale>
        <p:origin x="760" y="25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2002827"/>
            <a:ext cx="5486400" cy="246221"/>
          </a:xfrm>
          <a:prstGeom prst="rect">
            <a:avLst/>
          </a:prstGeom>
          <a:noFill/>
        </p:spPr>
        <p:txBody>
          <a:bodyPr wrap="square">
            <a:spAutoFit/>
          </a:bodyPr>
          <a:lstStyle/>
          <a:p>
            <a:pPr algn="l">
              <a:defRPr sz="1000" b="1">
                <a:solidFill>
                  <a:srgbClr val="808080"/>
                </a:solidFill>
                <a:latin typeface="Calibri"/>
              </a:defRPr>
            </a:pPr>
            <a:r>
              <a:rPr lang="de-DE" dirty="0">
                <a:latin typeface="Studio Pro Inflection Medium" pitchFamily="2" charset="77"/>
                <a:ea typeface="SF Pro Display" pitchFamily="2" charset="0"/>
              </a:rPr>
              <a:t>ALL HANDS</a:t>
            </a:r>
            <a:r>
              <a:rPr dirty="0">
                <a:latin typeface="Studio Pro Inflection Medium" pitchFamily="2" charset="77"/>
                <a:ea typeface="SF Pro Display" pitchFamily="2" charset="0"/>
              </a:rPr>
              <a:t>  /  FEBRUARY 2026</a:t>
            </a:r>
          </a:p>
        </p:txBody>
      </p:sp>
      <p:sp>
        <p:nvSpPr>
          <p:cNvPr id="3" name="TextBox 2"/>
          <p:cNvSpPr txBox="1"/>
          <p:nvPr/>
        </p:nvSpPr>
        <p:spPr>
          <a:xfrm>
            <a:off x="822960" y="2459504"/>
            <a:ext cx="5066872" cy="1938992"/>
          </a:xfrm>
          <a:prstGeom prst="rect">
            <a:avLst/>
          </a:prstGeom>
          <a:noFill/>
        </p:spPr>
        <p:txBody>
          <a:bodyPr wrap="square">
            <a:spAutoFit/>
          </a:bodyPr>
          <a:lstStyle/>
          <a:p>
            <a:pPr algn="l">
              <a:defRPr sz="6000" b="0">
                <a:solidFill>
                  <a:srgbClr val="000000"/>
                </a:solidFill>
                <a:latin typeface="Calibri"/>
              </a:defRPr>
            </a:pPr>
            <a:r>
              <a:rPr dirty="0">
                <a:latin typeface="Studio Pro Inflection Medium" pitchFamily="2" charset="77"/>
                <a:ea typeface="SF Pro Display" pitchFamily="2" charset="0"/>
              </a:rPr>
              <a:t>Where </a:t>
            </a:r>
            <a:r>
              <a:rPr lang="de-DE" dirty="0">
                <a:latin typeface="Studio Pro Inflection Medium" pitchFamily="2" charset="77"/>
                <a:ea typeface="SF Pro Display" pitchFamily="2" charset="0"/>
              </a:rPr>
              <a:t>W</a:t>
            </a:r>
            <a:r>
              <a:rPr dirty="0">
                <a:latin typeface="Studio Pro Inflection Medium" pitchFamily="2" charset="77"/>
                <a:ea typeface="SF Pro Display" pitchFamily="2" charset="0"/>
              </a:rPr>
              <a:t>e </a:t>
            </a:r>
            <a:br>
              <a:rPr lang="de-DE" dirty="0">
                <a:latin typeface="Studio Pro Inflection Medium" pitchFamily="2" charset="77"/>
                <a:ea typeface="SF Pro Display" pitchFamily="2" charset="0"/>
              </a:rPr>
            </a:br>
            <a:r>
              <a:rPr lang="de-DE" dirty="0">
                <a:latin typeface="Studio Pro Inflection Medium" pitchFamily="2" charset="77"/>
                <a:ea typeface="SF Pro Display" pitchFamily="2" charset="0"/>
              </a:rPr>
              <a:t>S</a:t>
            </a:r>
            <a:r>
              <a:rPr dirty="0" err="1">
                <a:latin typeface="Studio Pro Inflection Medium" pitchFamily="2" charset="77"/>
                <a:ea typeface="SF Pro Display" pitchFamily="2" charset="0"/>
              </a:rPr>
              <a:t>tand</a:t>
            </a:r>
            <a:endParaRPr dirty="0">
              <a:latin typeface="Studio Pro Inflection Medium" pitchFamily="2" charset="77"/>
              <a:ea typeface="SF Pro Display" pitchFamily="2" charset="0"/>
            </a:endParaRPr>
          </a:p>
        </p:txBody>
      </p:sp>
      <p:sp>
        <p:nvSpPr>
          <p:cNvPr id="4" name="TextBox 3"/>
          <p:cNvSpPr txBox="1"/>
          <p:nvPr/>
        </p:nvSpPr>
        <p:spPr>
          <a:xfrm>
            <a:off x="822960" y="4608952"/>
            <a:ext cx="3374286" cy="1124795"/>
          </a:xfrm>
          <a:prstGeom prst="rect">
            <a:avLst/>
          </a:prstGeom>
          <a:noFill/>
        </p:spPr>
        <p:txBody>
          <a:bodyPr wrap="square">
            <a:spAutoFit/>
          </a:bodyPr>
          <a:lstStyle/>
          <a:p>
            <a:pPr algn="l">
              <a:lnSpc>
                <a:spcPts val="2800"/>
              </a:lnSpc>
              <a:defRPr sz="1800" b="0">
                <a:solidFill>
                  <a:srgbClr val="808080"/>
                </a:solidFill>
                <a:latin typeface="Calibri"/>
              </a:defRPr>
            </a:pPr>
            <a:r>
              <a:rPr dirty="0">
                <a:latin typeface="Studio Pro Inflection Medium" pitchFamily="2" charset="77"/>
                <a:ea typeface="SF Pro Display" pitchFamily="2" charset="0"/>
              </a:rPr>
              <a:t>A hard look at our position. </a:t>
            </a:r>
            <a:br>
              <a:rPr lang="de-DE" dirty="0">
                <a:latin typeface="Studio Pro Inflection Medium" pitchFamily="2" charset="77"/>
                <a:ea typeface="SF Pro Display" pitchFamily="2" charset="0"/>
              </a:rPr>
            </a:br>
            <a:r>
              <a:rPr dirty="0">
                <a:latin typeface="Studio Pro Inflection Medium" pitchFamily="2" charset="77"/>
                <a:ea typeface="SF Pro Display" pitchFamily="2" charset="0"/>
              </a:rPr>
              <a:t>No sugarcoating. No panic.</a:t>
            </a:r>
            <a:endParaRPr lang="de-DE" dirty="0">
              <a:latin typeface="Studio Pro Inflection Medium" pitchFamily="2" charset="77"/>
              <a:ea typeface="SF Pro Display" pitchFamily="2" charset="0"/>
            </a:endParaRPr>
          </a:p>
          <a:p>
            <a:pPr algn="l">
              <a:lnSpc>
                <a:spcPts val="2800"/>
              </a:lnSpc>
              <a:defRPr sz="1800" b="0">
                <a:solidFill>
                  <a:srgbClr val="808080"/>
                </a:solidFill>
                <a:latin typeface="Calibri"/>
              </a:defRPr>
            </a:pPr>
            <a:r>
              <a:rPr lang="en-DE" dirty="0">
                <a:latin typeface="Studio Pro Inflection Medium" pitchFamily="2" charset="77"/>
                <a:ea typeface="SF Pro Display" pitchFamily="2" charset="0"/>
              </a:rPr>
              <a:t>But conviction.</a:t>
            </a:r>
            <a:r>
              <a:rPr dirty="0">
                <a:latin typeface="Studio Pro Inflection Medium" pitchFamily="2" charset="77"/>
                <a:ea typeface="SF Pro Display" pitchFamily="2" charset="0"/>
              </a:rPr>
              <a:t> </a:t>
            </a:r>
          </a:p>
        </p:txBody>
      </p:sp>
      <p:pic>
        <p:nvPicPr>
          <p:cNvPr id="5" name="Picture 4"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6" name="TextBox 5"/>
          <p:cNvSpPr txBox="1"/>
          <p:nvPr/>
        </p:nvSpPr>
        <p:spPr>
          <a:xfrm>
            <a:off x="11094415" y="6355080"/>
            <a:ext cx="731520" cy="246221"/>
          </a:xfrm>
          <a:prstGeom prst="rect">
            <a:avLst/>
          </a:prstGeom>
          <a:noFill/>
        </p:spPr>
        <p:txBody>
          <a:bodyPr wrap="square">
            <a:spAutoFit/>
          </a:bodyPr>
          <a:lstStyle/>
          <a:p>
            <a:pPr algn="r">
              <a:defRPr sz="1000" b="0">
                <a:solidFill>
                  <a:srgbClr val="808080"/>
                </a:solidFill>
                <a:latin typeface="Calibri"/>
              </a:defRPr>
            </a:pPr>
            <a:r>
              <a:rPr>
                <a:latin typeface="Studio Pro" pitchFamily="2" charset="77"/>
              </a:rPr>
              <a:t>01</a:t>
            </a:r>
          </a:p>
        </p:txBody>
      </p:sp>
      <p:pic>
        <p:nvPicPr>
          <p:cNvPr id="17" name="Picture 16" descr="A statue of a bearded person&#10;&#10;AI-generated content may be incorrect.">
            <a:extLst>
              <a:ext uri="{FF2B5EF4-FFF2-40B4-BE49-F238E27FC236}">
                <a16:creationId xmlns:a16="http://schemas.microsoft.com/office/drawing/2014/main" id="{557A3E6C-3B37-4C4D-06D3-6691404ECA8A}"/>
              </a:ext>
            </a:extLst>
          </p:cNvPr>
          <p:cNvPicPr>
            <a:picLocks noChangeAspect="1"/>
          </p:cNvPicPr>
          <p:nvPr/>
        </p:nvPicPr>
        <p:blipFill>
          <a:blip r:embed="rId3"/>
          <a:stretch>
            <a:fillRect/>
          </a:stretch>
        </p:blipFill>
        <p:spPr>
          <a:xfrm>
            <a:off x="5889832" y="189805"/>
            <a:ext cx="6094800" cy="6478389"/>
          </a:xfrm>
          <a:prstGeom prst="rect">
            <a:avLst/>
          </a:prstGeom>
        </p:spPr>
      </p:pic>
      <p:sp>
        <p:nvSpPr>
          <p:cNvPr id="19" name="Rectangle 18">
            <a:extLst>
              <a:ext uri="{FF2B5EF4-FFF2-40B4-BE49-F238E27FC236}">
                <a16:creationId xmlns:a16="http://schemas.microsoft.com/office/drawing/2014/main" id="{B90CDD89-4081-D719-7CC2-A01C87698D97}"/>
              </a:ext>
            </a:extLst>
          </p:cNvPr>
          <p:cNvSpPr/>
          <p:nvPr/>
        </p:nvSpPr>
        <p:spPr>
          <a:xfrm>
            <a:off x="-965033" y="512604"/>
            <a:ext cx="7346563" cy="923330"/>
          </a:xfrm>
          <a:prstGeom prst="rect">
            <a:avLst/>
          </a:prstGeom>
          <a:noFill/>
        </p:spPr>
        <p:txBody>
          <a:bodyPr wrap="none" lIns="91440" tIns="45720" rIns="91440" bIns="45720">
            <a:spAutoFit/>
          </a:bodyPr>
          <a:lstStyle/>
          <a:p>
            <a:pPr algn="ctr"/>
            <a:r>
              <a:rPr lang="en-GB" sz="5400" b="1" dirty="0">
                <a:ln w="22225">
                  <a:solidFill>
                    <a:schemeClr val="accent2"/>
                  </a:solidFill>
                  <a:prstDash val="solid"/>
                </a:ln>
                <a:solidFill>
                  <a:schemeClr val="accent2">
                    <a:lumMod val="40000"/>
                    <a:lumOff val="60000"/>
                  </a:schemeClr>
                </a:solidFill>
              </a:rPr>
              <a:t>CONVEXITY CONVICTION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822960" y="64008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THE HONEST NUMBERS</a:t>
            </a:r>
          </a:p>
        </p:txBody>
      </p:sp>
      <p:sp>
        <p:nvSpPr>
          <p:cNvPr id="3" name="TextBox 2"/>
          <p:cNvSpPr txBox="1"/>
          <p:nvPr/>
        </p:nvSpPr>
        <p:spPr>
          <a:xfrm>
            <a:off x="822960" y="1005840"/>
            <a:ext cx="9144000" cy="523220"/>
          </a:xfrm>
          <a:prstGeom prst="rect">
            <a:avLst/>
          </a:prstGeom>
          <a:noFill/>
        </p:spPr>
        <p:txBody>
          <a:bodyPr wrap="square">
            <a:spAutoFit/>
          </a:bodyPr>
          <a:lstStyle/>
          <a:p>
            <a:pPr algn="l">
              <a:defRPr sz="2800" b="0">
                <a:solidFill>
                  <a:srgbClr val="000000"/>
                </a:solidFill>
                <a:latin typeface="Calibri"/>
              </a:defRPr>
            </a:pPr>
            <a:r>
              <a:rPr>
                <a:latin typeface="Studio Pro Inflection Medium" pitchFamily="2" charset="77"/>
                <a:ea typeface="SF Pro Display" pitchFamily="2" charset="0"/>
              </a:rPr>
              <a:t>Where our funds sit today</a:t>
            </a:r>
          </a:p>
        </p:txBody>
      </p:sp>
      <p:sp>
        <p:nvSpPr>
          <p:cNvPr id="5" name="TextBox 4"/>
          <p:cNvSpPr txBox="1"/>
          <p:nvPr/>
        </p:nvSpPr>
        <p:spPr>
          <a:xfrm>
            <a:off x="1097280" y="2103120"/>
            <a:ext cx="2834640" cy="228600"/>
          </a:xfrm>
          <a:prstGeom prst="rect">
            <a:avLst/>
          </a:prstGeom>
          <a:noFill/>
        </p:spPr>
        <p:txBody>
          <a:bodyPr wrap="square">
            <a:spAutoFit/>
          </a:bodyPr>
          <a:lstStyle/>
          <a:p>
            <a:pPr algn="l">
              <a:defRPr sz="900" b="1">
                <a:solidFill>
                  <a:srgbClr val="8A9A8D"/>
                </a:solidFill>
                <a:latin typeface="Calibri"/>
              </a:defRPr>
            </a:pPr>
            <a:r>
              <a:rPr>
                <a:latin typeface="Studio Pro Inflection Medium" pitchFamily="2" charset="77"/>
                <a:ea typeface="SF Pro Display" pitchFamily="2" charset="0"/>
              </a:rPr>
              <a:t>FUND I  /  PILOT</a:t>
            </a:r>
          </a:p>
        </p:txBody>
      </p:sp>
      <p:sp>
        <p:nvSpPr>
          <p:cNvPr id="6" name="TextBox 5"/>
          <p:cNvSpPr txBox="1"/>
          <p:nvPr/>
        </p:nvSpPr>
        <p:spPr>
          <a:xfrm>
            <a:off x="1097280" y="2468880"/>
            <a:ext cx="1828800" cy="830997"/>
          </a:xfrm>
          <a:prstGeom prst="rect">
            <a:avLst/>
          </a:prstGeom>
          <a:noFill/>
        </p:spPr>
        <p:txBody>
          <a:bodyPr wrap="square">
            <a:spAutoFit/>
          </a:bodyPr>
          <a:lstStyle/>
          <a:p>
            <a:pPr algn="l">
              <a:defRPr sz="4800" b="1">
                <a:solidFill>
                  <a:srgbClr val="8A9A8D"/>
                </a:solidFill>
                <a:latin typeface="Calibri"/>
              </a:defRPr>
            </a:pPr>
            <a:r>
              <a:rPr>
                <a:latin typeface="Studio Pro Inflection Medium" pitchFamily="2" charset="77"/>
                <a:ea typeface="SF Pro Display" pitchFamily="2" charset="0"/>
              </a:rPr>
              <a:t>8x</a:t>
            </a:r>
          </a:p>
        </p:txBody>
      </p:sp>
      <p:sp>
        <p:nvSpPr>
          <p:cNvPr id="7" name="TextBox 6"/>
          <p:cNvSpPr txBox="1"/>
          <p:nvPr/>
        </p:nvSpPr>
        <p:spPr>
          <a:xfrm>
            <a:off x="1097280" y="3108960"/>
            <a:ext cx="1828800" cy="307777"/>
          </a:xfrm>
          <a:prstGeom prst="rect">
            <a:avLst/>
          </a:prstGeom>
          <a:noFill/>
        </p:spPr>
        <p:txBody>
          <a:bodyPr wrap="square">
            <a:spAutoFit/>
          </a:bodyPr>
          <a:lstStyle/>
          <a:p>
            <a:pPr algn="l">
              <a:defRPr sz="1400" b="0">
                <a:solidFill>
                  <a:srgbClr val="808080"/>
                </a:solidFill>
                <a:latin typeface="Calibri"/>
              </a:defRPr>
            </a:pPr>
            <a:r>
              <a:rPr>
                <a:latin typeface="Studio Pro Inflection Medium" pitchFamily="2" charset="77"/>
                <a:ea typeface="SF Pro Display" pitchFamily="2" charset="0"/>
              </a:rPr>
              <a:t>TVPI</a:t>
            </a:r>
          </a:p>
        </p:txBody>
      </p:sp>
      <p:sp>
        <p:nvSpPr>
          <p:cNvPr id="8" name="TextBox 7"/>
          <p:cNvSpPr txBox="1"/>
          <p:nvPr/>
        </p:nvSpPr>
        <p:spPr>
          <a:xfrm>
            <a:off x="1097280" y="3657600"/>
            <a:ext cx="109728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DPI</a:t>
            </a:r>
          </a:p>
        </p:txBody>
      </p:sp>
      <p:sp>
        <p:nvSpPr>
          <p:cNvPr id="9" name="TextBox 8"/>
          <p:cNvSpPr txBox="1"/>
          <p:nvPr/>
        </p:nvSpPr>
        <p:spPr>
          <a:xfrm>
            <a:off x="1097280" y="3840480"/>
            <a:ext cx="109728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3x</a:t>
            </a:r>
          </a:p>
        </p:txBody>
      </p:sp>
      <p:sp>
        <p:nvSpPr>
          <p:cNvPr id="10" name="TextBox 9"/>
          <p:cNvSpPr txBox="1"/>
          <p:nvPr/>
        </p:nvSpPr>
        <p:spPr>
          <a:xfrm>
            <a:off x="2468880" y="3657600"/>
            <a:ext cx="137160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Fund Size</a:t>
            </a:r>
          </a:p>
        </p:txBody>
      </p:sp>
      <p:sp>
        <p:nvSpPr>
          <p:cNvPr id="11" name="TextBox 10"/>
          <p:cNvSpPr txBox="1"/>
          <p:nvPr/>
        </p:nvSpPr>
        <p:spPr>
          <a:xfrm>
            <a:off x="2468880" y="3840480"/>
            <a:ext cx="137160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$1.1M</a:t>
            </a:r>
          </a:p>
        </p:txBody>
      </p:sp>
      <p:sp>
        <p:nvSpPr>
          <p:cNvPr id="12" name="TextBox 11"/>
          <p:cNvSpPr txBox="1"/>
          <p:nvPr/>
        </p:nvSpPr>
        <p:spPr>
          <a:xfrm>
            <a:off x="1097280" y="4572000"/>
            <a:ext cx="2834640" cy="1086580"/>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Exceptional returns. Real distributions. But LPs discount the fund size as "angel-scale, not institutional."</a:t>
            </a:r>
          </a:p>
        </p:txBody>
      </p:sp>
      <p:sp>
        <p:nvSpPr>
          <p:cNvPr id="14" name="TextBox 13"/>
          <p:cNvSpPr txBox="1"/>
          <p:nvPr/>
        </p:nvSpPr>
        <p:spPr>
          <a:xfrm>
            <a:off x="4754880" y="2103120"/>
            <a:ext cx="2834640" cy="228600"/>
          </a:xfrm>
          <a:prstGeom prst="rect">
            <a:avLst/>
          </a:prstGeom>
          <a:noFill/>
        </p:spPr>
        <p:txBody>
          <a:bodyPr wrap="square">
            <a:spAutoFit/>
          </a:bodyPr>
          <a:lstStyle/>
          <a:p>
            <a:pPr algn="l">
              <a:defRPr sz="900" b="1">
                <a:solidFill>
                  <a:srgbClr val="808080"/>
                </a:solidFill>
                <a:latin typeface="Calibri"/>
              </a:defRPr>
            </a:pPr>
            <a:r>
              <a:rPr>
                <a:latin typeface="Studio Pro Inflection Medium" pitchFamily="2" charset="77"/>
                <a:ea typeface="SF Pro Display" pitchFamily="2" charset="0"/>
              </a:rPr>
              <a:t>FUND II  /  MERCURY</a:t>
            </a:r>
          </a:p>
        </p:txBody>
      </p:sp>
      <p:sp>
        <p:nvSpPr>
          <p:cNvPr id="15" name="TextBox 14"/>
          <p:cNvSpPr txBox="1"/>
          <p:nvPr/>
        </p:nvSpPr>
        <p:spPr>
          <a:xfrm>
            <a:off x="4754880" y="2468880"/>
            <a:ext cx="2286000" cy="830997"/>
          </a:xfrm>
          <a:prstGeom prst="rect">
            <a:avLst/>
          </a:prstGeom>
          <a:noFill/>
        </p:spPr>
        <p:txBody>
          <a:bodyPr wrap="square">
            <a:spAutoFit/>
          </a:bodyPr>
          <a:lstStyle/>
          <a:p>
            <a:pPr algn="l">
              <a:defRPr sz="4800" b="1">
                <a:solidFill>
                  <a:srgbClr val="808080"/>
                </a:solidFill>
                <a:latin typeface="Calibri"/>
              </a:defRPr>
            </a:pPr>
            <a:r>
              <a:rPr>
                <a:latin typeface="Studio Pro Inflection Medium" pitchFamily="2" charset="77"/>
                <a:ea typeface="SF Pro Display" pitchFamily="2" charset="0"/>
              </a:rPr>
              <a:t>0.95x</a:t>
            </a:r>
          </a:p>
        </p:txBody>
      </p:sp>
      <p:sp>
        <p:nvSpPr>
          <p:cNvPr id="16" name="TextBox 15"/>
          <p:cNvSpPr txBox="1"/>
          <p:nvPr/>
        </p:nvSpPr>
        <p:spPr>
          <a:xfrm>
            <a:off x="4754880" y="3108960"/>
            <a:ext cx="1828800" cy="307777"/>
          </a:xfrm>
          <a:prstGeom prst="rect">
            <a:avLst/>
          </a:prstGeom>
          <a:noFill/>
        </p:spPr>
        <p:txBody>
          <a:bodyPr wrap="square">
            <a:spAutoFit/>
          </a:bodyPr>
          <a:lstStyle/>
          <a:p>
            <a:pPr algn="l">
              <a:defRPr sz="1400" b="0">
                <a:solidFill>
                  <a:srgbClr val="808080"/>
                </a:solidFill>
                <a:latin typeface="Calibri"/>
              </a:defRPr>
            </a:pPr>
            <a:r>
              <a:rPr>
                <a:latin typeface="Studio Pro Inflection Medium" pitchFamily="2" charset="77"/>
                <a:ea typeface="SF Pro Display" pitchFamily="2" charset="0"/>
              </a:rPr>
              <a:t>TVPI (current)</a:t>
            </a:r>
          </a:p>
        </p:txBody>
      </p:sp>
      <p:sp>
        <p:nvSpPr>
          <p:cNvPr id="17" name="TextBox 16"/>
          <p:cNvSpPr txBox="1"/>
          <p:nvPr/>
        </p:nvSpPr>
        <p:spPr>
          <a:xfrm>
            <a:off x="4754880" y="3657600"/>
            <a:ext cx="137160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Bullish scenario</a:t>
            </a:r>
          </a:p>
        </p:txBody>
      </p:sp>
      <p:sp>
        <p:nvSpPr>
          <p:cNvPr id="18" name="TextBox 17"/>
          <p:cNvSpPr txBox="1"/>
          <p:nvPr/>
        </p:nvSpPr>
        <p:spPr>
          <a:xfrm>
            <a:off x="4754880" y="3840480"/>
            <a:ext cx="137160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~1.3x</a:t>
            </a:r>
          </a:p>
        </p:txBody>
      </p:sp>
      <p:sp>
        <p:nvSpPr>
          <p:cNvPr id="19" name="TextBox 18"/>
          <p:cNvSpPr txBox="1"/>
          <p:nvPr/>
        </p:nvSpPr>
        <p:spPr>
          <a:xfrm>
            <a:off x="6309360" y="3657600"/>
            <a:ext cx="137160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Fund Size</a:t>
            </a:r>
          </a:p>
        </p:txBody>
      </p:sp>
      <p:sp>
        <p:nvSpPr>
          <p:cNvPr id="20" name="TextBox 19"/>
          <p:cNvSpPr txBox="1"/>
          <p:nvPr/>
        </p:nvSpPr>
        <p:spPr>
          <a:xfrm>
            <a:off x="6309360" y="3840480"/>
            <a:ext cx="137160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$40M</a:t>
            </a:r>
          </a:p>
        </p:txBody>
      </p:sp>
      <p:sp>
        <p:nvSpPr>
          <p:cNvPr id="21" name="TextBox 20"/>
          <p:cNvSpPr txBox="1"/>
          <p:nvPr/>
        </p:nvSpPr>
        <p:spPr>
          <a:xfrm>
            <a:off x="4754880" y="4572000"/>
            <a:ext cx="2834640" cy="838115"/>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2022 vintage. Pre-seed/seed deep tech. Below water on marks. This is the number LPs see first.</a:t>
            </a:r>
          </a:p>
        </p:txBody>
      </p:sp>
      <p:sp>
        <p:nvSpPr>
          <p:cNvPr id="23" name="TextBox 22"/>
          <p:cNvSpPr txBox="1"/>
          <p:nvPr/>
        </p:nvSpPr>
        <p:spPr>
          <a:xfrm>
            <a:off x="8412480" y="2103120"/>
            <a:ext cx="2834640" cy="228600"/>
          </a:xfrm>
          <a:prstGeom prst="rect">
            <a:avLst/>
          </a:prstGeom>
          <a:noFill/>
        </p:spPr>
        <p:txBody>
          <a:bodyPr wrap="square">
            <a:spAutoFit/>
          </a:bodyPr>
          <a:lstStyle/>
          <a:p>
            <a:pPr algn="l">
              <a:defRPr sz="900" b="1">
                <a:solidFill>
                  <a:srgbClr val="8A90A8"/>
                </a:solidFill>
                <a:latin typeface="Calibri"/>
              </a:defRPr>
            </a:pPr>
            <a:r>
              <a:rPr>
                <a:latin typeface="Studio Pro Inflection Medium" pitchFamily="2" charset="77"/>
                <a:ea typeface="SF Pro Display" pitchFamily="2" charset="0"/>
              </a:rPr>
              <a:t>FUND III  /  MARS</a:t>
            </a:r>
          </a:p>
        </p:txBody>
      </p:sp>
      <p:sp>
        <p:nvSpPr>
          <p:cNvPr id="24" name="TextBox 23"/>
          <p:cNvSpPr txBox="1"/>
          <p:nvPr/>
        </p:nvSpPr>
        <p:spPr>
          <a:xfrm>
            <a:off x="8412480" y="2468880"/>
            <a:ext cx="1828800" cy="830997"/>
          </a:xfrm>
          <a:prstGeom prst="rect">
            <a:avLst/>
          </a:prstGeom>
          <a:noFill/>
        </p:spPr>
        <p:txBody>
          <a:bodyPr wrap="square">
            <a:spAutoFit/>
          </a:bodyPr>
          <a:lstStyle/>
          <a:p>
            <a:pPr algn="l">
              <a:defRPr sz="4800" b="1">
                <a:solidFill>
                  <a:srgbClr val="8A90A8"/>
                </a:solidFill>
                <a:latin typeface="Calibri"/>
              </a:defRPr>
            </a:pPr>
            <a:r>
              <a:rPr>
                <a:latin typeface="Studio Pro Inflection Medium" pitchFamily="2" charset="77"/>
                <a:ea typeface="SF Pro Display" pitchFamily="2" charset="0"/>
              </a:rPr>
              <a:t>$5M</a:t>
            </a:r>
          </a:p>
        </p:txBody>
      </p:sp>
      <p:sp>
        <p:nvSpPr>
          <p:cNvPr id="25" name="TextBox 24"/>
          <p:cNvSpPr txBox="1"/>
          <p:nvPr/>
        </p:nvSpPr>
        <p:spPr>
          <a:xfrm>
            <a:off x="8412480" y="3108960"/>
            <a:ext cx="1828800" cy="307777"/>
          </a:xfrm>
          <a:prstGeom prst="rect">
            <a:avLst/>
          </a:prstGeom>
          <a:noFill/>
        </p:spPr>
        <p:txBody>
          <a:bodyPr wrap="square">
            <a:spAutoFit/>
          </a:bodyPr>
          <a:lstStyle/>
          <a:p>
            <a:pPr algn="l">
              <a:defRPr sz="1400" b="0">
                <a:solidFill>
                  <a:srgbClr val="808080"/>
                </a:solidFill>
                <a:latin typeface="Calibri"/>
              </a:defRPr>
            </a:pPr>
            <a:r>
              <a:rPr>
                <a:latin typeface="Studio Pro Inflection Medium" pitchFamily="2" charset="77"/>
                <a:ea typeface="SF Pro Display" pitchFamily="2" charset="0"/>
              </a:rPr>
              <a:t>First Close</a:t>
            </a:r>
          </a:p>
        </p:txBody>
      </p:sp>
      <p:sp>
        <p:nvSpPr>
          <p:cNvPr id="26" name="TextBox 25"/>
          <p:cNvSpPr txBox="1"/>
          <p:nvPr/>
        </p:nvSpPr>
        <p:spPr>
          <a:xfrm>
            <a:off x="8412480" y="3657600"/>
            <a:ext cx="109728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Target</a:t>
            </a:r>
          </a:p>
        </p:txBody>
      </p:sp>
      <p:sp>
        <p:nvSpPr>
          <p:cNvPr id="27" name="TextBox 26"/>
          <p:cNvSpPr txBox="1"/>
          <p:nvPr/>
        </p:nvSpPr>
        <p:spPr>
          <a:xfrm>
            <a:off x="8412480" y="3840480"/>
            <a:ext cx="118872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$50M</a:t>
            </a:r>
          </a:p>
        </p:txBody>
      </p:sp>
      <p:sp>
        <p:nvSpPr>
          <p:cNvPr id="28" name="TextBox 27"/>
          <p:cNvSpPr txBox="1"/>
          <p:nvPr/>
        </p:nvSpPr>
        <p:spPr>
          <a:xfrm>
            <a:off x="9784080" y="3657600"/>
            <a:ext cx="1371600" cy="246221"/>
          </a:xfrm>
          <a:prstGeom prst="rect">
            <a:avLst/>
          </a:prstGeom>
          <a:noFill/>
        </p:spPr>
        <p:txBody>
          <a:bodyPr wrap="square">
            <a:spAutoFit/>
          </a:bodyPr>
          <a:lstStyle/>
          <a:p>
            <a:pPr algn="l">
              <a:defRPr sz="1000" b="0">
                <a:solidFill>
                  <a:srgbClr val="808080"/>
                </a:solidFill>
                <a:latin typeface="Calibri"/>
              </a:defRPr>
            </a:pPr>
            <a:r>
              <a:rPr>
                <a:latin typeface="Studio Pro Inflection Medium" pitchFamily="2" charset="77"/>
                <a:ea typeface="SF Pro Display" pitchFamily="2" charset="0"/>
              </a:rPr>
              <a:t>Soft Commits</a:t>
            </a:r>
          </a:p>
        </p:txBody>
      </p:sp>
      <p:sp>
        <p:nvSpPr>
          <p:cNvPr id="29" name="TextBox 28"/>
          <p:cNvSpPr txBox="1"/>
          <p:nvPr/>
        </p:nvSpPr>
        <p:spPr>
          <a:xfrm>
            <a:off x="9784080" y="3840480"/>
            <a:ext cx="1371600" cy="492443"/>
          </a:xfrm>
          <a:prstGeom prst="rect">
            <a:avLst/>
          </a:prstGeom>
          <a:noFill/>
        </p:spPr>
        <p:txBody>
          <a:bodyPr wrap="square">
            <a:spAutoFit/>
          </a:bodyPr>
          <a:lstStyle/>
          <a:p>
            <a:pPr algn="l">
              <a:defRPr sz="2600" b="1">
                <a:solidFill>
                  <a:srgbClr val="000000"/>
                </a:solidFill>
                <a:latin typeface="Calibri"/>
              </a:defRPr>
            </a:pPr>
            <a:r>
              <a:rPr>
                <a:latin typeface="Studio Pro Inflection Medium" pitchFamily="2" charset="77"/>
                <a:ea typeface="SF Pro Display" pitchFamily="2" charset="0"/>
              </a:rPr>
              <a:t>~$2M</a:t>
            </a:r>
          </a:p>
        </p:txBody>
      </p:sp>
      <p:sp>
        <p:nvSpPr>
          <p:cNvPr id="30" name="TextBox 29"/>
          <p:cNvSpPr txBox="1"/>
          <p:nvPr/>
        </p:nvSpPr>
        <p:spPr>
          <a:xfrm>
            <a:off x="8412480" y="4572000"/>
            <a:ext cx="2834640" cy="581634"/>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Long way to go. 16 data room LPs ghosted. The fundraise is stalling.</a:t>
            </a:r>
          </a:p>
        </p:txBody>
      </p:sp>
      <p:pic>
        <p:nvPicPr>
          <p:cNvPr id="31" name="Picture 30"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32" name="TextBox 31"/>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20BA936-E24A-D4C2-B475-EBF696E341DC}"/>
              </a:ext>
            </a:extLst>
          </p:cNvPr>
          <p:cNvSpPr/>
          <p:nvPr/>
        </p:nvSpPr>
        <p:spPr>
          <a:xfrm>
            <a:off x="6490970" y="3807079"/>
            <a:ext cx="5060950" cy="2751201"/>
          </a:xfrm>
          <a:prstGeom prst="rect">
            <a:avLst/>
          </a:prstGeom>
          <a:solidFill>
            <a:srgbClr val="9CA2B6">
              <a:alpha val="2509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DE" dirty="0"/>
          </a:p>
        </p:txBody>
      </p:sp>
      <p:sp>
        <p:nvSpPr>
          <p:cNvPr id="2" name="TextBox 1"/>
          <p:cNvSpPr txBox="1"/>
          <p:nvPr/>
        </p:nvSpPr>
        <p:spPr>
          <a:xfrm>
            <a:off x="822960" y="64008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CONTEXT</a:t>
            </a:r>
          </a:p>
        </p:txBody>
      </p:sp>
      <p:sp>
        <p:nvSpPr>
          <p:cNvPr id="3" name="TextBox 2"/>
          <p:cNvSpPr txBox="1"/>
          <p:nvPr/>
        </p:nvSpPr>
        <p:spPr>
          <a:xfrm>
            <a:off x="822960" y="1005840"/>
            <a:ext cx="9144000" cy="1032206"/>
          </a:xfrm>
          <a:prstGeom prst="rect">
            <a:avLst/>
          </a:prstGeom>
          <a:noFill/>
        </p:spPr>
        <p:txBody>
          <a:bodyPr wrap="square">
            <a:spAutoFit/>
          </a:bodyPr>
          <a:lstStyle/>
          <a:p>
            <a:pPr algn="l">
              <a:lnSpc>
                <a:spcPts val="3800"/>
              </a:lnSpc>
              <a:defRPr sz="2800" b="0">
                <a:solidFill>
                  <a:srgbClr val="000000"/>
                </a:solidFill>
                <a:latin typeface="Calibri"/>
              </a:defRPr>
            </a:pPr>
            <a:r>
              <a:rPr>
                <a:latin typeface="Studio Pro Inflection Medium" pitchFamily="2" charset="77"/>
                <a:ea typeface="SF Pro Display" pitchFamily="2" charset="0"/>
              </a:rPr>
              <a:t>1.3x TVPI at year 4 is not a death sentence.</a:t>
            </a:r>
            <a:br>
              <a:rPr>
                <a:latin typeface="Studio Pro Inflection Medium" pitchFamily="2" charset="77"/>
                <a:ea typeface="SF Pro Display" pitchFamily="2" charset="0"/>
              </a:rPr>
            </a:br>
            <a:r>
              <a:rPr>
                <a:latin typeface="Studio Pro Inflection Medium" pitchFamily="2" charset="77"/>
                <a:ea typeface="SF Pro Display" pitchFamily="2" charset="0"/>
              </a:rPr>
              <a:t>But it is not enough to raise on numbers alone.</a:t>
            </a:r>
          </a:p>
        </p:txBody>
      </p:sp>
      <p:sp>
        <p:nvSpPr>
          <p:cNvPr id="5" name="TextBox 4"/>
          <p:cNvSpPr txBox="1"/>
          <p:nvPr/>
        </p:nvSpPr>
        <p:spPr>
          <a:xfrm>
            <a:off x="1097280" y="2423160"/>
            <a:ext cx="448056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2022 is the worst vintage in a decade</a:t>
            </a:r>
          </a:p>
        </p:txBody>
      </p:sp>
      <p:sp>
        <p:nvSpPr>
          <p:cNvPr id="6" name="TextBox 5"/>
          <p:cNvSpPr txBox="1"/>
          <p:nvPr/>
        </p:nvSpPr>
        <p:spPr>
          <a:xfrm>
            <a:off x="1097280" y="2743200"/>
            <a:ext cx="4480560" cy="838115"/>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Valuations peaked, markets crashed, follow-on funding dried up. Every 2022 vintage fund is sitting on compressed marks. This is not unique to us.</a:t>
            </a:r>
          </a:p>
        </p:txBody>
      </p:sp>
      <p:sp>
        <p:nvSpPr>
          <p:cNvPr id="8" name="TextBox 7"/>
          <p:cNvSpPr txBox="1"/>
          <p:nvPr/>
        </p:nvSpPr>
        <p:spPr>
          <a:xfrm>
            <a:off x="1097280" y="3794760"/>
            <a:ext cx="448056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Deep tech J-curve is longer</a:t>
            </a:r>
          </a:p>
        </p:txBody>
      </p:sp>
      <p:sp>
        <p:nvSpPr>
          <p:cNvPr id="9" name="TextBox 8"/>
          <p:cNvSpPr txBox="1"/>
          <p:nvPr/>
        </p:nvSpPr>
        <p:spPr>
          <a:xfrm>
            <a:off x="1097280" y="4114800"/>
            <a:ext cx="4480560" cy="1086580"/>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ea typeface="SF Pro Display" pitchFamily="2" charset="0"/>
              </a:rPr>
              <a:t>SaaS marks up on revenue multiples. Deep tech marks up on technical milestones, government contracts, and large follow-on rounds. Our companies are pre-inflection, not failing.</a:t>
            </a:r>
          </a:p>
        </p:txBody>
      </p:sp>
      <p:sp>
        <p:nvSpPr>
          <p:cNvPr id="11" name="TextBox 10"/>
          <p:cNvSpPr txBox="1"/>
          <p:nvPr/>
        </p:nvSpPr>
        <p:spPr>
          <a:xfrm>
            <a:off x="1097280" y="5166360"/>
            <a:ext cx="448056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Funds settle into terminal quartile at year 5-6</a:t>
            </a:r>
          </a:p>
        </p:txBody>
      </p:sp>
      <p:sp>
        <p:nvSpPr>
          <p:cNvPr id="12" name="TextBox 11"/>
          <p:cNvSpPr txBox="1"/>
          <p:nvPr/>
        </p:nvSpPr>
        <p:spPr>
          <a:xfrm>
            <a:off x="1097280" y="5486400"/>
            <a:ext cx="4480560" cy="830099"/>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ea typeface="SF Pro Display" pitchFamily="2" charset="0"/>
              </a:rPr>
              <a:t>Cambridge Associates data is clear: judging a deep tech fund at year 3-4 is like judging a marathon runner at mil</a:t>
            </a:r>
            <a:r>
              <a:rPr lang="en-GB" dirty="0">
                <a:latin typeface="Studio Pro Inflection Medium" pitchFamily="2" charset="77"/>
                <a:ea typeface="SF Pro Display" pitchFamily="2" charset="0"/>
              </a:rPr>
              <a:t>e</a:t>
            </a:r>
            <a:r>
              <a:rPr lang="en-DE" dirty="0">
                <a:latin typeface="Studio Pro Inflection Medium" pitchFamily="2" charset="77"/>
                <a:ea typeface="SF Pro Display" pitchFamily="2" charset="0"/>
              </a:rPr>
              <a:t> 8.</a:t>
            </a:r>
            <a:endParaRPr dirty="0">
              <a:latin typeface="Studio Pro Inflection Medium" pitchFamily="2" charset="77"/>
              <a:ea typeface="SF Pro Display" pitchFamily="2" charset="0"/>
            </a:endParaRPr>
          </a:p>
        </p:txBody>
      </p:sp>
      <p:sp>
        <p:nvSpPr>
          <p:cNvPr id="14" name="TextBox 13"/>
          <p:cNvSpPr txBox="1"/>
          <p:nvPr/>
        </p:nvSpPr>
        <p:spPr>
          <a:xfrm>
            <a:off x="6492240" y="2423160"/>
            <a:ext cx="448056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But median does not raise a Fund III</a:t>
            </a:r>
          </a:p>
        </p:txBody>
      </p:sp>
      <p:sp>
        <p:nvSpPr>
          <p:cNvPr id="15" name="TextBox 14"/>
          <p:cNvSpPr txBox="1"/>
          <p:nvPr/>
        </p:nvSpPr>
        <p:spPr>
          <a:xfrm>
            <a:off x="6492240" y="2743200"/>
            <a:ext cx="4480560" cy="838115"/>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1.3x at year 4 is roughly median for the vintage. LPs want top quartile trajectory or a compelling story for why marks are about to inflect.</a:t>
            </a:r>
          </a:p>
        </p:txBody>
      </p:sp>
      <p:sp>
        <p:nvSpPr>
          <p:cNvPr id="17" name="TextBox 16"/>
          <p:cNvSpPr txBox="1"/>
          <p:nvPr/>
        </p:nvSpPr>
        <p:spPr>
          <a:xfrm>
            <a:off x="6492240" y="3931920"/>
            <a:ext cx="4480560" cy="323165"/>
          </a:xfrm>
          <a:prstGeom prst="rect">
            <a:avLst/>
          </a:prstGeom>
          <a:noFill/>
        </p:spPr>
        <p:txBody>
          <a:bodyPr wrap="square">
            <a:spAutoFit/>
          </a:bodyPr>
          <a:lstStyle/>
          <a:p>
            <a:pPr algn="l">
              <a:defRPr sz="1500" b="1">
                <a:solidFill>
                  <a:srgbClr val="5A6B5D"/>
                </a:solidFill>
                <a:latin typeface="Calibri"/>
              </a:defRPr>
            </a:pPr>
            <a:r>
              <a:rPr dirty="0">
                <a:latin typeface="Studio Pro Inflection Medium" pitchFamily="2" charset="77"/>
                <a:ea typeface="SF Pro Display" pitchFamily="2" charset="0"/>
              </a:rPr>
              <a:t>What actually matters</a:t>
            </a:r>
          </a:p>
        </p:txBody>
      </p:sp>
      <p:sp>
        <p:nvSpPr>
          <p:cNvPr id="18" name="TextBox 17"/>
          <p:cNvSpPr txBox="1"/>
          <p:nvPr/>
        </p:nvSpPr>
        <p:spPr>
          <a:xfrm>
            <a:off x="6492240" y="4297680"/>
            <a:ext cx="4480560" cy="718338"/>
          </a:xfrm>
          <a:prstGeom prst="rect">
            <a:avLst/>
          </a:prstGeom>
          <a:noFill/>
        </p:spPr>
        <p:txBody>
          <a:bodyPr wrap="square">
            <a:spAutoFit/>
          </a:bodyPr>
          <a:lstStyle/>
          <a:p>
            <a:pPr algn="l">
              <a:lnSpc>
                <a:spcPts val="2600"/>
              </a:lnSpc>
              <a:defRPr sz="1700" b="0">
                <a:solidFill>
                  <a:srgbClr val="000000"/>
                </a:solidFill>
                <a:latin typeface="Calibri"/>
              </a:defRPr>
            </a:pPr>
            <a:r>
              <a:rPr dirty="0">
                <a:latin typeface="Studio Pro Inflection Medium" pitchFamily="2" charset="77"/>
                <a:ea typeface="SF Pro Display" pitchFamily="2" charset="0"/>
              </a:rPr>
              <a:t>It is the </a:t>
            </a:r>
            <a:r>
              <a:rPr b="1" dirty="0">
                <a:latin typeface="Studio Pro Inflection Medium It" pitchFamily="2" charset="77"/>
                <a:ea typeface="SF Pro Display" pitchFamily="2" charset="0"/>
              </a:rPr>
              <a:t>slope of the curve</a:t>
            </a:r>
            <a:r>
              <a:rPr dirty="0">
                <a:latin typeface="Studio Pro Inflection Medium" pitchFamily="2" charset="77"/>
                <a:ea typeface="SF Pro Display" pitchFamily="2" charset="0"/>
              </a:rPr>
              <a:t> and the credibility of what comes next.</a:t>
            </a:r>
          </a:p>
        </p:txBody>
      </p:sp>
      <p:sp>
        <p:nvSpPr>
          <p:cNvPr id="19" name="TextBox 18"/>
          <p:cNvSpPr txBox="1"/>
          <p:nvPr/>
        </p:nvSpPr>
        <p:spPr>
          <a:xfrm>
            <a:off x="6492240" y="5293167"/>
            <a:ext cx="4480560" cy="757130"/>
          </a:xfrm>
          <a:prstGeom prst="rect">
            <a:avLst/>
          </a:prstGeom>
          <a:noFill/>
        </p:spPr>
        <p:txBody>
          <a:bodyPr wrap="square">
            <a:spAutoFit/>
          </a:bodyPr>
          <a:lstStyle/>
          <a:p>
            <a:pPr algn="l">
              <a:lnSpc>
                <a:spcPts val="1800"/>
              </a:lnSpc>
              <a:defRPr sz="1200" b="0">
                <a:solidFill>
                  <a:srgbClr val="808080"/>
                </a:solidFill>
                <a:latin typeface="Calibri"/>
              </a:defRPr>
            </a:pPr>
            <a:r>
              <a:rPr dirty="0">
                <a:latin typeface="Studio Pro Inflection Medium" pitchFamily="2" charset="77"/>
                <a:ea typeface="SF Pro Display" pitchFamily="2" charset="0"/>
              </a:rPr>
              <a:t>If we show LPs that 0.95x is becoming 1.3x because specific companies received term sheets at validated external prices, that momentum signal is more persuasive than the number</a:t>
            </a:r>
            <a:r>
              <a:rPr lang="de-DE" dirty="0">
                <a:latin typeface="Studio Pro Inflection Medium" pitchFamily="2" charset="77"/>
                <a:ea typeface="SF Pro Display" pitchFamily="2" charset="0"/>
              </a:rPr>
              <a:t>.</a:t>
            </a:r>
            <a:endParaRPr dirty="0">
              <a:latin typeface="Studio Pro Inflection Medium" pitchFamily="2" charset="77"/>
              <a:ea typeface="SF Pro Display" pitchFamily="2" charset="0"/>
            </a:endParaRPr>
          </a:p>
        </p:txBody>
      </p:sp>
      <p:pic>
        <p:nvPicPr>
          <p:cNvPr id="20" name="Picture 19"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21" name="TextBox 20"/>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822960" y="64008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DIAGNOSIS</a:t>
            </a:r>
          </a:p>
        </p:txBody>
      </p:sp>
      <p:sp>
        <p:nvSpPr>
          <p:cNvPr id="3" name="TextBox 2"/>
          <p:cNvSpPr txBox="1"/>
          <p:nvPr/>
        </p:nvSpPr>
        <p:spPr>
          <a:xfrm>
            <a:off x="822960" y="1005840"/>
            <a:ext cx="9144000" cy="523220"/>
          </a:xfrm>
          <a:prstGeom prst="rect">
            <a:avLst/>
          </a:prstGeom>
          <a:noFill/>
        </p:spPr>
        <p:txBody>
          <a:bodyPr wrap="square">
            <a:spAutoFit/>
          </a:bodyPr>
          <a:lstStyle/>
          <a:p>
            <a:pPr algn="l">
              <a:defRPr sz="2800" b="0">
                <a:solidFill>
                  <a:srgbClr val="000000"/>
                </a:solidFill>
                <a:latin typeface="Calibri"/>
              </a:defRPr>
            </a:pPr>
            <a:r>
              <a:rPr>
                <a:latin typeface="Studio Pro Inflection Medium" pitchFamily="2" charset="77"/>
                <a:ea typeface="SF Pro Display" pitchFamily="2" charset="0"/>
              </a:rPr>
              <a:t>Why 16 out of 16 data room LPs went silent</a:t>
            </a:r>
          </a:p>
        </p:txBody>
      </p:sp>
      <p:sp>
        <p:nvSpPr>
          <p:cNvPr id="4" name="TextBox 3"/>
          <p:cNvSpPr txBox="1"/>
          <p:nvPr/>
        </p:nvSpPr>
        <p:spPr>
          <a:xfrm>
            <a:off x="822960" y="2011680"/>
            <a:ext cx="457200" cy="584775"/>
          </a:xfrm>
          <a:prstGeom prst="rect">
            <a:avLst/>
          </a:prstGeom>
          <a:noFill/>
        </p:spPr>
        <p:txBody>
          <a:bodyPr wrap="square">
            <a:spAutoFit/>
          </a:bodyPr>
          <a:lstStyle/>
          <a:p>
            <a:pPr algn="l">
              <a:defRPr sz="3200" b="1">
                <a:solidFill>
                  <a:srgbClr val="808080"/>
                </a:solidFill>
                <a:latin typeface="Calibri"/>
              </a:defRPr>
            </a:pPr>
            <a:r>
              <a:rPr>
                <a:latin typeface="Studio Pro Inflection Medium" pitchFamily="2" charset="77"/>
                <a:ea typeface="SF Pro Display" pitchFamily="2" charset="0"/>
              </a:rPr>
              <a:t>1</a:t>
            </a:r>
          </a:p>
        </p:txBody>
      </p:sp>
      <p:sp>
        <p:nvSpPr>
          <p:cNvPr id="5" name="TextBox 4"/>
          <p:cNvSpPr txBox="1"/>
          <p:nvPr/>
        </p:nvSpPr>
        <p:spPr>
          <a:xfrm>
            <a:off x="1371600" y="2011680"/>
            <a:ext cx="548640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Fund II gives them permission to wait</a:t>
            </a:r>
          </a:p>
        </p:txBody>
      </p:sp>
      <p:sp>
        <p:nvSpPr>
          <p:cNvPr id="6" name="TextBox 5"/>
          <p:cNvSpPr txBox="1"/>
          <p:nvPr/>
        </p:nvSpPr>
        <p:spPr>
          <a:xfrm>
            <a:off x="1371600" y="2377440"/>
            <a:ext cx="5486400" cy="830099"/>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LP opens data room, sees below-water marks, thinks: "I will wait for momentum." Ghosting is easier than saying "your numbers are not there yet."</a:t>
            </a:r>
          </a:p>
        </p:txBody>
      </p:sp>
      <p:sp>
        <p:nvSpPr>
          <p:cNvPr id="7" name="TextBox 6"/>
          <p:cNvSpPr txBox="1"/>
          <p:nvPr/>
        </p:nvSpPr>
        <p:spPr>
          <a:xfrm>
            <a:off x="822960" y="3474720"/>
            <a:ext cx="457200" cy="584775"/>
          </a:xfrm>
          <a:prstGeom prst="rect">
            <a:avLst/>
          </a:prstGeom>
          <a:noFill/>
        </p:spPr>
        <p:txBody>
          <a:bodyPr wrap="square">
            <a:spAutoFit/>
          </a:bodyPr>
          <a:lstStyle/>
          <a:p>
            <a:pPr algn="l">
              <a:defRPr sz="3200" b="1">
                <a:solidFill>
                  <a:srgbClr val="808080"/>
                </a:solidFill>
                <a:latin typeface="Calibri"/>
              </a:defRPr>
            </a:pPr>
            <a:r>
              <a:rPr>
                <a:latin typeface="Studio Pro Inflection Medium" pitchFamily="2" charset="77"/>
                <a:ea typeface="SF Pro Display" pitchFamily="2" charset="0"/>
              </a:rPr>
              <a:t>2</a:t>
            </a:r>
          </a:p>
        </p:txBody>
      </p:sp>
      <p:sp>
        <p:nvSpPr>
          <p:cNvPr id="8" name="TextBox 7"/>
          <p:cNvSpPr txBox="1"/>
          <p:nvPr/>
        </p:nvSpPr>
        <p:spPr>
          <a:xfrm>
            <a:off x="1371600" y="3474720"/>
            <a:ext cx="548640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No urgency mechanism in our materials</a:t>
            </a:r>
          </a:p>
        </p:txBody>
      </p:sp>
      <p:sp>
        <p:nvSpPr>
          <p:cNvPr id="9" name="TextBox 8"/>
          <p:cNvSpPr txBox="1"/>
          <p:nvPr/>
        </p:nvSpPr>
        <p:spPr>
          <a:xfrm>
            <a:off x="1371600" y="3840480"/>
            <a:ext cx="5486400" cy="830099"/>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Our pitch reads as standard deep tech thesis + team + portfolio. Nothing makes LPs feel they will miss something irreplaceable by waiting.</a:t>
            </a:r>
          </a:p>
        </p:txBody>
      </p:sp>
      <p:sp>
        <p:nvSpPr>
          <p:cNvPr id="10" name="TextBox 9"/>
          <p:cNvSpPr txBox="1"/>
          <p:nvPr/>
        </p:nvSpPr>
        <p:spPr>
          <a:xfrm>
            <a:off x="822960" y="4937760"/>
            <a:ext cx="457200" cy="584775"/>
          </a:xfrm>
          <a:prstGeom prst="rect">
            <a:avLst/>
          </a:prstGeom>
          <a:noFill/>
        </p:spPr>
        <p:txBody>
          <a:bodyPr wrap="square">
            <a:spAutoFit/>
          </a:bodyPr>
          <a:lstStyle/>
          <a:p>
            <a:pPr algn="l">
              <a:defRPr sz="3200" b="1">
                <a:solidFill>
                  <a:srgbClr val="808080"/>
                </a:solidFill>
                <a:latin typeface="Calibri"/>
              </a:defRPr>
            </a:pPr>
            <a:r>
              <a:rPr>
                <a:latin typeface="Studio Pro Inflection Medium" pitchFamily="2" charset="77"/>
                <a:ea typeface="SF Pro Display" pitchFamily="2" charset="0"/>
              </a:rPr>
              <a:t>3</a:t>
            </a:r>
          </a:p>
        </p:txBody>
      </p:sp>
      <p:sp>
        <p:nvSpPr>
          <p:cNvPr id="11" name="TextBox 10"/>
          <p:cNvSpPr txBox="1"/>
          <p:nvPr/>
        </p:nvSpPr>
        <p:spPr>
          <a:xfrm>
            <a:off x="1371600" y="4937760"/>
            <a:ext cx="548640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Allocation bucket mismatch</a:t>
            </a:r>
          </a:p>
        </p:txBody>
      </p:sp>
      <p:sp>
        <p:nvSpPr>
          <p:cNvPr id="12" name="TextBox 11"/>
          <p:cNvSpPr txBox="1"/>
          <p:nvPr/>
        </p:nvSpPr>
        <p:spPr>
          <a:xfrm>
            <a:off x="1371600" y="5303520"/>
            <a:ext cx="5486400" cy="830099"/>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"European pre-seed deep tech" is not a standard allocation category. We are asking LPs to create a new bucket. That is a fundamentally harder sale.</a:t>
            </a:r>
          </a:p>
        </p:txBody>
      </p:sp>
      <p:sp>
        <p:nvSpPr>
          <p:cNvPr id="14" name="TextBox 13"/>
          <p:cNvSpPr txBox="1"/>
          <p:nvPr/>
        </p:nvSpPr>
        <p:spPr>
          <a:xfrm>
            <a:off x="7772399" y="2468880"/>
            <a:ext cx="338328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The compounding effect</a:t>
            </a:r>
          </a:p>
        </p:txBody>
      </p:sp>
      <p:sp>
        <p:nvSpPr>
          <p:cNvPr id="15" name="TextBox 14"/>
          <p:cNvSpPr txBox="1"/>
          <p:nvPr/>
        </p:nvSpPr>
        <p:spPr>
          <a:xfrm>
            <a:off x="7772399" y="2834640"/>
            <a:ext cx="3383280" cy="1599540"/>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No single factor is a dealbreaker. But combined, they create inertia. Performance gives permission to wait. Lack of differentiation gives no reason to act. Bucket mismatch removes the internal champion.</a:t>
            </a:r>
          </a:p>
        </p:txBody>
      </p:sp>
      <p:sp>
        <p:nvSpPr>
          <p:cNvPr id="16" name="TextBox 15"/>
          <p:cNvSpPr txBox="1"/>
          <p:nvPr/>
        </p:nvSpPr>
        <p:spPr>
          <a:xfrm>
            <a:off x="7770900" y="4476775"/>
            <a:ext cx="3383280" cy="581569"/>
          </a:xfrm>
          <a:prstGeom prst="rect">
            <a:avLst/>
          </a:prstGeom>
          <a:noFill/>
        </p:spPr>
        <p:txBody>
          <a:bodyPr wrap="square">
            <a:spAutoFit/>
          </a:bodyPr>
          <a:lstStyle/>
          <a:p>
            <a:pPr algn="l">
              <a:lnSpc>
                <a:spcPts val="2000"/>
              </a:lnSpc>
              <a:defRPr sz="1300" b="1">
                <a:solidFill>
                  <a:srgbClr val="000000"/>
                </a:solidFill>
                <a:latin typeface="Calibri"/>
              </a:defRPr>
            </a:pPr>
            <a:r>
              <a:rPr dirty="0">
                <a:latin typeface="Studio Pro Inflection Medium" pitchFamily="2" charset="77"/>
                <a:ea typeface="SF Pro Display" pitchFamily="2" charset="0"/>
              </a:rPr>
              <a:t>We need to break the compound. </a:t>
            </a:r>
            <a:endParaRPr lang="de-DE" dirty="0">
              <a:latin typeface="Studio Pro Inflection Medium" pitchFamily="2" charset="77"/>
              <a:ea typeface="SF Pro Display" pitchFamily="2" charset="0"/>
            </a:endParaRPr>
          </a:p>
          <a:p>
            <a:pPr algn="l">
              <a:lnSpc>
                <a:spcPts val="2000"/>
              </a:lnSpc>
              <a:defRPr sz="1300" b="1">
                <a:solidFill>
                  <a:srgbClr val="000000"/>
                </a:solidFill>
                <a:latin typeface="Calibri"/>
              </a:defRPr>
            </a:pPr>
            <a:r>
              <a:rPr dirty="0">
                <a:latin typeface="Studio Pro Inflection Medium" pitchFamily="2" charset="77"/>
                <a:ea typeface="SF Pro Display" pitchFamily="2" charset="0"/>
              </a:rPr>
              <a:t>Attack all three simultaneously.</a:t>
            </a:r>
          </a:p>
        </p:txBody>
      </p:sp>
      <p:pic>
        <p:nvPicPr>
          <p:cNvPr id="17" name="Picture 16"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18" name="TextBox 17"/>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0" y="0"/>
            <a:ext cx="6096304"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6096304"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640080" y="1828800"/>
            <a:ext cx="5029200" cy="246221"/>
          </a:xfrm>
          <a:prstGeom prst="rect">
            <a:avLst/>
          </a:prstGeom>
          <a:noFill/>
        </p:spPr>
        <p:txBody>
          <a:bodyPr wrap="square">
            <a:spAutoFit/>
          </a:bodyPr>
          <a:lstStyle/>
          <a:p>
            <a:pPr algn="l">
              <a:defRPr sz="1000" b="1">
                <a:solidFill>
                  <a:srgbClr val="808080"/>
                </a:solidFill>
                <a:latin typeface="Calibri"/>
              </a:defRPr>
            </a:pPr>
            <a:r>
              <a:rPr dirty="0">
                <a:latin typeface="Studio Pro Inflection Medium" pitchFamily="2" charset="77"/>
                <a:ea typeface="SF Pro Display" pitchFamily="2" charset="0"/>
              </a:rPr>
              <a:t>BEING HONEST WITH YOU</a:t>
            </a:r>
          </a:p>
        </p:txBody>
      </p:sp>
      <p:sp>
        <p:nvSpPr>
          <p:cNvPr id="4" name="TextBox 3"/>
          <p:cNvSpPr txBox="1"/>
          <p:nvPr/>
        </p:nvSpPr>
        <p:spPr>
          <a:xfrm>
            <a:off x="640080" y="2377440"/>
            <a:ext cx="5029200" cy="1497398"/>
          </a:xfrm>
          <a:prstGeom prst="rect">
            <a:avLst/>
          </a:prstGeom>
          <a:noFill/>
        </p:spPr>
        <p:txBody>
          <a:bodyPr wrap="square">
            <a:spAutoFit/>
          </a:bodyPr>
          <a:lstStyle/>
          <a:p>
            <a:pPr algn="l">
              <a:lnSpc>
                <a:spcPts val="3800"/>
              </a:lnSpc>
              <a:defRPr sz="2600" b="0">
                <a:solidFill>
                  <a:srgbClr val="FFFFFF"/>
                </a:solidFill>
                <a:latin typeface="Calibri"/>
              </a:defRPr>
            </a:pPr>
            <a:r>
              <a:rPr>
                <a:latin typeface="Studio Pro Inflection Medium" pitchFamily="2" charset="77"/>
                <a:ea typeface="SF Pro Display" pitchFamily="2" charset="0"/>
              </a:rPr>
              <a:t>I am not sleeping well.</a:t>
            </a:r>
            <a:br>
              <a:rPr>
                <a:latin typeface="Studio Pro Inflection Medium" pitchFamily="2" charset="77"/>
                <a:ea typeface="SF Pro Display" pitchFamily="2" charset="0"/>
              </a:rPr>
            </a:br>
            <a:r>
              <a:rPr>
                <a:latin typeface="Studio Pro Inflection Medium" pitchFamily="2" charset="77"/>
                <a:ea typeface="SF Pro Display" pitchFamily="2" charset="0"/>
              </a:rPr>
              <a:t>I am scared the team falls apart.</a:t>
            </a:r>
            <a:br>
              <a:rPr>
                <a:latin typeface="Studio Pro Inflection Medium" pitchFamily="2" charset="77"/>
                <a:ea typeface="SF Pro Display" pitchFamily="2" charset="0"/>
              </a:rPr>
            </a:br>
            <a:r>
              <a:rPr>
                <a:latin typeface="Studio Pro Inflection Medium" pitchFamily="2" charset="77"/>
                <a:ea typeface="SF Pro Display" pitchFamily="2" charset="0"/>
              </a:rPr>
              <a:t>I owe you honesty.</a:t>
            </a:r>
          </a:p>
        </p:txBody>
      </p:sp>
      <p:sp>
        <p:nvSpPr>
          <p:cNvPr id="5" name="TextBox 4"/>
          <p:cNvSpPr txBox="1"/>
          <p:nvPr/>
        </p:nvSpPr>
        <p:spPr>
          <a:xfrm>
            <a:off x="640080" y="4137316"/>
            <a:ext cx="4754880" cy="1591782"/>
          </a:xfrm>
          <a:prstGeom prst="rect">
            <a:avLst/>
          </a:prstGeom>
          <a:noFill/>
        </p:spPr>
        <p:txBody>
          <a:bodyPr wrap="square">
            <a:spAutoFit/>
          </a:bodyPr>
          <a:lstStyle/>
          <a:p>
            <a:pPr algn="l">
              <a:lnSpc>
                <a:spcPts val="2400"/>
              </a:lnSpc>
              <a:defRPr sz="1500" b="0">
                <a:solidFill>
                  <a:srgbClr val="808080"/>
                </a:solidFill>
                <a:latin typeface="Calibri"/>
              </a:defRPr>
            </a:pPr>
            <a:r>
              <a:rPr lang="en-GB" sz="1500" dirty="0">
                <a:solidFill>
                  <a:srgbClr val="808080"/>
                </a:solidFill>
                <a:effectLst/>
                <a:latin typeface="Studio Pro Inflection Medium" pitchFamily="2" charset="77"/>
              </a:rPr>
              <a:t>The organisation is funded for current salaries until mid-2027. Beyond that, we will need to reduce costs, assuming no Mars management fee. The pressure is on. I share this because I believe transparency and agency are our greatest strengths.</a:t>
            </a:r>
            <a:endParaRPr dirty="0">
              <a:latin typeface="Studio Pro Inflection Medium" pitchFamily="2" charset="77"/>
              <a:ea typeface="SF Pro Display" pitchFamily="2" charset="0"/>
            </a:endParaRPr>
          </a:p>
        </p:txBody>
      </p:sp>
      <p:sp>
        <p:nvSpPr>
          <p:cNvPr id="7" name="TextBox 6"/>
          <p:cNvSpPr txBox="1"/>
          <p:nvPr/>
        </p:nvSpPr>
        <p:spPr>
          <a:xfrm>
            <a:off x="6736384" y="1645920"/>
            <a:ext cx="50292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WHAT I HAVE BEEN WRESTLING WITH</a:t>
            </a:r>
          </a:p>
        </p:txBody>
      </p:sp>
      <p:sp>
        <p:nvSpPr>
          <p:cNvPr id="8" name="TextBox 7"/>
          <p:cNvSpPr txBox="1"/>
          <p:nvPr/>
        </p:nvSpPr>
        <p:spPr>
          <a:xfrm>
            <a:off x="6736384" y="2194560"/>
            <a:ext cx="502920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The existential conflation</a:t>
            </a:r>
          </a:p>
        </p:txBody>
      </p:sp>
      <p:sp>
        <p:nvSpPr>
          <p:cNvPr id="9" name="TextBox 8"/>
          <p:cNvSpPr txBox="1"/>
          <p:nvPr/>
        </p:nvSpPr>
        <p:spPr>
          <a:xfrm>
            <a:off x="6736384" y="2514600"/>
            <a:ext cx="4754880" cy="838115"/>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ea typeface="SF Pro Display" pitchFamily="2" charset="0"/>
              </a:rPr>
              <a:t>When your life's work feels threatened, "this fundraise is hard" becomes "everything might fail." These are different problems. I am working to separate them.</a:t>
            </a:r>
          </a:p>
        </p:txBody>
      </p:sp>
      <p:sp>
        <p:nvSpPr>
          <p:cNvPr id="10" name="TextBox 9"/>
          <p:cNvSpPr txBox="1"/>
          <p:nvPr/>
        </p:nvSpPr>
        <p:spPr>
          <a:xfrm>
            <a:off x="6736384" y="3566160"/>
            <a:ext cx="5029200" cy="323165"/>
          </a:xfrm>
          <a:prstGeom prst="rect">
            <a:avLst/>
          </a:prstGeom>
          <a:noFill/>
        </p:spPr>
        <p:txBody>
          <a:bodyPr wrap="square">
            <a:spAutoFit/>
          </a:bodyPr>
          <a:lstStyle/>
          <a:p>
            <a:pPr algn="l">
              <a:defRPr sz="1500" b="1">
                <a:solidFill>
                  <a:srgbClr val="000000"/>
                </a:solidFill>
                <a:latin typeface="Calibri"/>
              </a:defRPr>
            </a:pPr>
            <a:r>
              <a:rPr>
                <a:latin typeface="Studio Pro Inflection Medium" pitchFamily="2" charset="77"/>
                <a:ea typeface="SF Pro Display" pitchFamily="2" charset="0"/>
              </a:rPr>
              <a:t>The temptation to scatter</a:t>
            </a:r>
          </a:p>
        </p:txBody>
      </p:sp>
      <p:sp>
        <p:nvSpPr>
          <p:cNvPr id="11" name="TextBox 10"/>
          <p:cNvSpPr txBox="1"/>
          <p:nvPr/>
        </p:nvSpPr>
        <p:spPr>
          <a:xfrm>
            <a:off x="6736384" y="3886200"/>
            <a:ext cx="4754880" cy="830099"/>
          </a:xfrm>
          <a:prstGeom prst="rect">
            <a:avLst/>
          </a:prstGeom>
          <a:noFill/>
        </p:spPr>
        <p:txBody>
          <a:bodyPr wrap="square">
            <a:spAutoFit/>
          </a:bodyPr>
          <a:lstStyle/>
          <a:p>
            <a:pPr algn="l">
              <a:lnSpc>
                <a:spcPts val="2000"/>
              </a:lnSpc>
              <a:defRPr sz="1300" b="0">
                <a:solidFill>
                  <a:srgbClr val="808080"/>
                </a:solidFill>
                <a:latin typeface="Calibri"/>
              </a:defRPr>
            </a:pPr>
            <a:r>
              <a:rPr lang="en-GB" sz="1300">
                <a:solidFill>
                  <a:srgbClr val="808080"/>
                </a:solidFill>
                <a:effectLst/>
                <a:latin typeface="Studio Pro Inflection Medium" pitchFamily="2" charset="77"/>
              </a:rPr>
              <a:t>Fear drives us toward consensus solutions—launching products, offering consulting, hedging bets. It diverts our focus.</a:t>
            </a:r>
            <a:endParaRPr dirty="0">
              <a:latin typeface="Studio Pro Inflection Medium" pitchFamily="2" charset="77"/>
              <a:ea typeface="SF Pro Display" pitchFamily="2" charset="0"/>
            </a:endParaRPr>
          </a:p>
        </p:txBody>
      </p:sp>
      <p:sp>
        <p:nvSpPr>
          <p:cNvPr id="12" name="TextBox 11"/>
          <p:cNvSpPr txBox="1"/>
          <p:nvPr/>
        </p:nvSpPr>
        <p:spPr>
          <a:xfrm>
            <a:off x="6736384" y="4937760"/>
            <a:ext cx="5029200" cy="323165"/>
          </a:xfrm>
          <a:prstGeom prst="rect">
            <a:avLst/>
          </a:prstGeom>
          <a:noFill/>
        </p:spPr>
        <p:txBody>
          <a:bodyPr wrap="square">
            <a:spAutoFit/>
          </a:bodyPr>
          <a:lstStyle/>
          <a:p>
            <a:pPr algn="l">
              <a:defRPr sz="1500" b="1">
                <a:solidFill>
                  <a:srgbClr val="5A6B5D"/>
                </a:solidFill>
                <a:latin typeface="Calibri"/>
              </a:defRPr>
            </a:pPr>
            <a:r>
              <a:rPr dirty="0">
                <a:latin typeface="Studio Pro Inflection Medium" pitchFamily="2" charset="77"/>
                <a:ea typeface="SF Pro Display" pitchFamily="2" charset="0"/>
              </a:rPr>
              <a:t>The thing I know to be true</a:t>
            </a:r>
          </a:p>
        </p:txBody>
      </p:sp>
      <p:sp>
        <p:nvSpPr>
          <p:cNvPr id="13" name="TextBox 12"/>
          <p:cNvSpPr txBox="1"/>
          <p:nvPr/>
        </p:nvSpPr>
        <p:spPr>
          <a:xfrm>
            <a:off x="6736384" y="5257800"/>
            <a:ext cx="4754880" cy="1094595"/>
          </a:xfrm>
          <a:prstGeom prst="rect">
            <a:avLst/>
          </a:prstGeom>
          <a:noFill/>
        </p:spPr>
        <p:txBody>
          <a:bodyPr wrap="square">
            <a:spAutoFit/>
          </a:bodyPr>
          <a:lstStyle/>
          <a:p>
            <a:pPr algn="l">
              <a:lnSpc>
                <a:spcPts val="2000"/>
              </a:lnSpc>
              <a:defRPr sz="1300" b="0">
                <a:solidFill>
                  <a:srgbClr val="808080"/>
                </a:solidFill>
                <a:latin typeface="Calibri"/>
              </a:defRPr>
            </a:pPr>
            <a:r>
              <a:rPr lang="en-GB" sz="1300" dirty="0">
                <a:solidFill>
                  <a:srgbClr val="5A6A5D"/>
                </a:solidFill>
                <a:effectLst/>
                <a:latin typeface="Studio Pro Inflection Medium" pitchFamily="2" charset="77"/>
              </a:rPr>
              <a:t>We have created something truly unique. Fund I achieved an 8x return, validating the model. The portfolio companies are real. Our platform is real. The thesis works. The product is solid, The packaging needs to change. </a:t>
            </a:r>
            <a:endParaRPr dirty="0">
              <a:solidFill>
                <a:srgbClr val="5A6A5D"/>
              </a:solidFill>
              <a:latin typeface="Studio Pro Inflection Medium" pitchFamily="2" charset="77"/>
              <a:ea typeface="SF Pro Display" pitchFamily="2" charset="0"/>
            </a:endParaRPr>
          </a:p>
        </p:txBody>
      </p:sp>
      <p:pic>
        <p:nvPicPr>
          <p:cNvPr id="14" name="Picture 13" descr="logo-footer-white.png"/>
          <p:cNvPicPr>
            <a:picLocks noChangeAspect="1"/>
          </p:cNvPicPr>
          <p:nvPr/>
        </p:nvPicPr>
        <p:blipFill>
          <a:blip r:embed="rId2"/>
          <a:stretch>
            <a:fillRect/>
          </a:stretch>
        </p:blipFill>
        <p:spPr>
          <a:xfrm>
            <a:off x="640080" y="6309360"/>
            <a:ext cx="1645920" cy="236601"/>
          </a:xfrm>
          <a:prstGeom prst="rect">
            <a:avLst/>
          </a:prstGeom>
        </p:spPr>
      </p:pic>
      <p:sp>
        <p:nvSpPr>
          <p:cNvPr id="15" name="TextBox 14"/>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82296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ON AGENCY</a:t>
            </a:r>
          </a:p>
        </p:txBody>
      </p:sp>
      <p:sp>
        <p:nvSpPr>
          <p:cNvPr id="3" name="TextBox 2"/>
          <p:cNvSpPr txBox="1"/>
          <p:nvPr/>
        </p:nvSpPr>
        <p:spPr>
          <a:xfrm>
            <a:off x="822960" y="1371600"/>
            <a:ext cx="9144000" cy="1383712"/>
          </a:xfrm>
          <a:prstGeom prst="rect">
            <a:avLst/>
          </a:prstGeom>
          <a:noFill/>
        </p:spPr>
        <p:txBody>
          <a:bodyPr wrap="square">
            <a:spAutoFit/>
          </a:bodyPr>
          <a:lstStyle/>
          <a:p>
            <a:pPr algn="l">
              <a:lnSpc>
                <a:spcPts val="5200"/>
              </a:lnSpc>
              <a:defRPr sz="4000" b="0">
                <a:solidFill>
                  <a:srgbClr val="000000"/>
                </a:solidFill>
                <a:latin typeface="Calibri"/>
              </a:defRPr>
            </a:pPr>
            <a:r>
              <a:rPr>
                <a:latin typeface="Studio Pro Inflection Medium" pitchFamily="2" charset="77"/>
                <a:ea typeface="SF Pro Display" pitchFamily="2" charset="0"/>
              </a:rPr>
              <a:t>We can turn things around.</a:t>
            </a:r>
            <a:br>
              <a:rPr>
                <a:latin typeface="Studio Pro Inflection Medium" pitchFamily="2" charset="77"/>
                <a:ea typeface="SF Pro Display" pitchFamily="2" charset="0"/>
              </a:rPr>
            </a:br>
            <a:r>
              <a:rPr>
                <a:latin typeface="Studio Pro Inflection Medium" pitchFamily="2" charset="77"/>
                <a:ea typeface="SF Pro Display" pitchFamily="2" charset="0"/>
              </a:rPr>
              <a:t>We thrive in adversity.</a:t>
            </a:r>
          </a:p>
        </p:txBody>
      </p:sp>
      <p:sp>
        <p:nvSpPr>
          <p:cNvPr id="5" name="TextBox 4"/>
          <p:cNvSpPr txBox="1"/>
          <p:nvPr/>
        </p:nvSpPr>
        <p:spPr>
          <a:xfrm>
            <a:off x="1203710" y="3017520"/>
            <a:ext cx="9784080" cy="230832"/>
          </a:xfrm>
          <a:prstGeom prst="rect">
            <a:avLst/>
          </a:prstGeom>
          <a:noFill/>
        </p:spPr>
        <p:txBody>
          <a:bodyPr wrap="square">
            <a:spAutoFit/>
          </a:bodyPr>
          <a:lstStyle/>
          <a:p>
            <a:pPr algn="l">
              <a:defRPr sz="900" b="1">
                <a:solidFill>
                  <a:srgbClr val="5A6B5D"/>
                </a:solidFill>
                <a:latin typeface="Calibri"/>
              </a:defRPr>
            </a:pPr>
            <a:r>
              <a:rPr dirty="0">
                <a:latin typeface="Studio Pro Inflection Medium" pitchFamily="2" charset="77"/>
              </a:rPr>
              <a:t>FROM OUR FOUNDER JOB</a:t>
            </a:r>
            <a:r>
              <a:rPr lang="de-DE" dirty="0">
                <a:latin typeface="Studio Pro Inflection Medium" pitchFamily="2" charset="77"/>
              </a:rPr>
              <a:t> in </a:t>
            </a:r>
            <a:r>
              <a:rPr lang="de-DE" dirty="0" err="1">
                <a:latin typeface="Studio Pro Inflection Medium" pitchFamily="2" charset="77"/>
              </a:rPr>
              <a:t>his</a:t>
            </a:r>
            <a:r>
              <a:rPr lang="de-DE" dirty="0">
                <a:latin typeface="Studio Pro Inflection Medium" pitchFamily="2" charset="77"/>
              </a:rPr>
              <a:t> „</a:t>
            </a:r>
            <a:r>
              <a:rPr lang="de-DE" dirty="0" err="1">
                <a:latin typeface="Studio Pro Inflection Medium" pitchFamily="2" charset="77"/>
              </a:rPr>
              <a:t>steel</a:t>
            </a:r>
            <a:r>
              <a:rPr lang="de-DE" dirty="0">
                <a:latin typeface="Studio Pro Inflection Medium" pitchFamily="2" charset="77"/>
              </a:rPr>
              <a:t>“ email</a:t>
            </a:r>
            <a:endParaRPr dirty="0">
              <a:latin typeface="Studio Pro Inflection Medium" pitchFamily="2" charset="77"/>
            </a:endParaRPr>
          </a:p>
        </p:txBody>
      </p:sp>
      <p:sp>
        <p:nvSpPr>
          <p:cNvPr id="6" name="TextBox 5"/>
          <p:cNvSpPr txBox="1"/>
          <p:nvPr/>
        </p:nvSpPr>
        <p:spPr>
          <a:xfrm>
            <a:off x="1188720" y="3383280"/>
            <a:ext cx="9784080" cy="914400"/>
          </a:xfrm>
          <a:prstGeom prst="rect">
            <a:avLst/>
          </a:prstGeom>
          <a:noFill/>
        </p:spPr>
        <p:txBody>
          <a:bodyPr wrap="square">
            <a:spAutoFit/>
          </a:bodyPr>
          <a:lstStyle/>
          <a:p>
            <a:pPr algn="l">
              <a:lnSpc>
                <a:spcPts val="2200"/>
              </a:lnSpc>
              <a:defRPr sz="1400" b="0">
                <a:solidFill>
                  <a:srgbClr val="000000"/>
                </a:solidFill>
                <a:latin typeface="Calibri"/>
              </a:defRPr>
            </a:pPr>
            <a:r>
              <a:rPr i="1">
                <a:latin typeface="Studio Pro Inflection Medium It" pitchFamily="2" charset="77"/>
                <a:ea typeface="SF Pro Display" pitchFamily="2" charset="0"/>
              </a:rPr>
              <a:t>"Monday is the best day of the week. It's our chance to start fresh, to improve upon who we were last week. Today is a tougher Monday than usual: obviously, the situation with Brandon is challenging. But the most important question right now is this: Who are we going to be in the face of adversity?</a:t>
            </a:r>
          </a:p>
        </p:txBody>
      </p:sp>
      <p:sp>
        <p:nvSpPr>
          <p:cNvPr id="7" name="TextBox 6"/>
          <p:cNvSpPr txBox="1"/>
          <p:nvPr/>
        </p:nvSpPr>
        <p:spPr>
          <a:xfrm>
            <a:off x="1188720" y="4297680"/>
            <a:ext cx="9784080" cy="903196"/>
          </a:xfrm>
          <a:prstGeom prst="rect">
            <a:avLst/>
          </a:prstGeom>
          <a:noFill/>
        </p:spPr>
        <p:txBody>
          <a:bodyPr wrap="square">
            <a:spAutoFit/>
          </a:bodyPr>
          <a:lstStyle/>
          <a:p>
            <a:pPr algn="l">
              <a:lnSpc>
                <a:spcPts val="2200"/>
              </a:lnSpc>
              <a:defRPr sz="1400" b="0">
                <a:solidFill>
                  <a:srgbClr val="000000"/>
                </a:solidFill>
                <a:latin typeface="Calibri"/>
              </a:defRPr>
            </a:pPr>
            <a:r>
              <a:rPr i="1" dirty="0">
                <a:latin typeface="Studio Pro Inflection Medium It" pitchFamily="2" charset="77"/>
                <a:ea typeface="SF Pro Display" pitchFamily="2" charset="0"/>
              </a:rPr>
              <a:t>For Hedy to fulfill its mission and achieve its vision, there's only one answer: we love adversity. We thrive in it. Adversity makes us stronger, sharper, and better. Like iron in a blast furnace, adversity burns away the weak points and forges steel.</a:t>
            </a:r>
          </a:p>
        </p:txBody>
      </p:sp>
      <p:sp>
        <p:nvSpPr>
          <p:cNvPr id="8" name="TextBox 7"/>
          <p:cNvSpPr txBox="1"/>
          <p:nvPr/>
        </p:nvSpPr>
        <p:spPr>
          <a:xfrm>
            <a:off x="1188720" y="5212080"/>
            <a:ext cx="9784080" cy="629596"/>
          </a:xfrm>
          <a:prstGeom prst="rect">
            <a:avLst/>
          </a:prstGeom>
          <a:noFill/>
        </p:spPr>
        <p:txBody>
          <a:bodyPr wrap="square">
            <a:spAutoFit/>
          </a:bodyPr>
          <a:lstStyle/>
          <a:p>
            <a:pPr algn="l">
              <a:lnSpc>
                <a:spcPts val="2200"/>
              </a:lnSpc>
              <a:defRPr sz="1400" b="0">
                <a:solidFill>
                  <a:srgbClr val="000000"/>
                </a:solidFill>
                <a:latin typeface="Calibri"/>
              </a:defRPr>
            </a:pPr>
            <a:r>
              <a:rPr i="1" dirty="0">
                <a:latin typeface="Studio Pro Inflection Medium It" pitchFamily="2" charset="77"/>
                <a:ea typeface="SF Pro Display" pitchFamily="2" charset="0"/>
              </a:rPr>
              <a:t>The status quo isn't good enough today. Who we were last week won't cut it anymore. Activate your inner DARKMODE. Get better this week."</a:t>
            </a:r>
          </a:p>
        </p:txBody>
      </p:sp>
      <p:pic>
        <p:nvPicPr>
          <p:cNvPr id="9" name="Picture 8"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10" name="TextBox 9"/>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822960" y="64008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A REQUEST</a:t>
            </a:r>
          </a:p>
        </p:txBody>
      </p:sp>
      <p:sp>
        <p:nvSpPr>
          <p:cNvPr id="3" name="TextBox 2"/>
          <p:cNvSpPr txBox="1"/>
          <p:nvPr/>
        </p:nvSpPr>
        <p:spPr>
          <a:xfrm>
            <a:off x="822960" y="1097280"/>
            <a:ext cx="9144000" cy="1332609"/>
          </a:xfrm>
          <a:prstGeom prst="rect">
            <a:avLst/>
          </a:prstGeom>
          <a:noFill/>
        </p:spPr>
        <p:txBody>
          <a:bodyPr wrap="square">
            <a:spAutoFit/>
          </a:bodyPr>
          <a:lstStyle/>
          <a:p>
            <a:pPr algn="l">
              <a:lnSpc>
                <a:spcPts val="5000"/>
              </a:lnSpc>
              <a:defRPr sz="3800" b="0">
                <a:solidFill>
                  <a:srgbClr val="000000"/>
                </a:solidFill>
                <a:latin typeface="Calibri"/>
              </a:defRPr>
            </a:pPr>
            <a:r>
              <a:rPr>
                <a:latin typeface="Studio Pro Inflection Medium" pitchFamily="2" charset="77"/>
                <a:ea typeface="SF Pro Display" pitchFamily="2" charset="0"/>
              </a:rPr>
              <a:t>I am not asking you to stay out of loyalty.</a:t>
            </a:r>
            <a:br>
              <a:rPr>
                <a:latin typeface="Studio Pro Inflection Medium" pitchFamily="2" charset="77"/>
                <a:ea typeface="SF Pro Display" pitchFamily="2" charset="0"/>
              </a:rPr>
            </a:br>
            <a:r>
              <a:rPr>
                <a:latin typeface="Studio Pro Inflection Medium" pitchFamily="2" charset="77"/>
                <a:ea typeface="SF Pro Display" pitchFamily="2" charset="0"/>
              </a:rPr>
              <a:t>I am asking you to stay out of conviction.</a:t>
            </a:r>
          </a:p>
        </p:txBody>
      </p:sp>
      <p:sp>
        <p:nvSpPr>
          <p:cNvPr id="5" name="TextBox 4"/>
          <p:cNvSpPr txBox="1"/>
          <p:nvPr/>
        </p:nvSpPr>
        <p:spPr>
          <a:xfrm>
            <a:off x="1097280" y="2788920"/>
            <a:ext cx="466344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Help manufacture catalysts</a:t>
            </a:r>
          </a:p>
        </p:txBody>
      </p:sp>
      <p:sp>
        <p:nvSpPr>
          <p:cNvPr id="6" name="TextBox 5"/>
          <p:cNvSpPr txBox="1"/>
          <p:nvPr/>
        </p:nvSpPr>
        <p:spPr>
          <a:xfrm>
            <a:off x="1097280" y="3246120"/>
            <a:ext cx="4663440" cy="1371600"/>
          </a:xfrm>
          <a:prstGeom prst="rect">
            <a:avLst/>
          </a:prstGeom>
          <a:noFill/>
        </p:spPr>
        <p:txBody>
          <a:bodyPr wrap="square">
            <a:spAutoFit/>
          </a:bodyPr>
          <a:lstStyle/>
          <a:p>
            <a:pPr>
              <a:lnSpc>
                <a:spcPts val="2000"/>
              </a:lnSpc>
            </a:pPr>
            <a:r>
              <a:rPr sz="1300" b="1">
                <a:solidFill>
                  <a:srgbClr val="000000"/>
                </a:solidFill>
                <a:latin typeface="Studio Pro Inflection Medium It" pitchFamily="2" charset="77"/>
                <a:ea typeface="SF Pro Display" pitchFamily="2" charset="0"/>
              </a:rPr>
              <a:t>Mercury: </a:t>
            </a:r>
            <a:r>
              <a:rPr sz="1300">
                <a:solidFill>
                  <a:srgbClr val="808080"/>
                </a:solidFill>
                <a:latin typeface="Studio Pro Inflection Medium" pitchFamily="2" charset="77"/>
                <a:ea typeface="SF Pro Display" pitchFamily="2" charset="0"/>
              </a:rPr>
              <a:t>We need 2-3 portfolio companies to hit visible milestones in the next 90 days. Term sheets, contracts, partnerships. This changes the fundraising narrative from "wait and see" to "momentum is building." Your relationships and support matter here.</a:t>
            </a:r>
          </a:p>
        </p:txBody>
      </p:sp>
      <p:sp>
        <p:nvSpPr>
          <p:cNvPr id="7" name="TextBox 6"/>
          <p:cNvSpPr txBox="1"/>
          <p:nvPr/>
        </p:nvSpPr>
        <p:spPr>
          <a:xfrm>
            <a:off x="1097280" y="4663440"/>
            <a:ext cx="4663440" cy="581634"/>
          </a:xfrm>
          <a:prstGeom prst="rect">
            <a:avLst/>
          </a:prstGeom>
          <a:noFill/>
        </p:spPr>
        <p:txBody>
          <a:bodyPr wrap="square">
            <a:spAutoFit/>
          </a:bodyPr>
          <a:lstStyle/>
          <a:p>
            <a:pPr>
              <a:lnSpc>
                <a:spcPts val="2000"/>
              </a:lnSpc>
            </a:pPr>
            <a:r>
              <a:rPr sz="1300" b="1">
                <a:solidFill>
                  <a:srgbClr val="000000"/>
                </a:solidFill>
                <a:latin typeface="Studio Pro Inflection Medium It" pitchFamily="2" charset="77"/>
                <a:ea typeface="SF Pro Display" pitchFamily="2" charset="0"/>
              </a:rPr>
              <a:t>Mars: </a:t>
            </a:r>
            <a:r>
              <a:rPr sz="1300">
                <a:solidFill>
                  <a:srgbClr val="808080"/>
                </a:solidFill>
                <a:latin typeface="Studio Pro Inflection Medium" pitchFamily="2" charset="77"/>
                <a:ea typeface="SF Pro Display" pitchFamily="2" charset="0"/>
              </a:rPr>
              <a:t>We need to do 1-2 bold earliest stage investments at $1M each to build momentum with the Mars Fund.</a:t>
            </a:r>
          </a:p>
        </p:txBody>
      </p:sp>
      <p:sp>
        <p:nvSpPr>
          <p:cNvPr id="9" name="TextBox 8"/>
          <p:cNvSpPr txBox="1"/>
          <p:nvPr/>
        </p:nvSpPr>
        <p:spPr>
          <a:xfrm>
            <a:off x="6583680" y="2788920"/>
            <a:ext cx="466344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Protect your energy</a:t>
            </a:r>
          </a:p>
        </p:txBody>
      </p:sp>
      <p:sp>
        <p:nvSpPr>
          <p:cNvPr id="10" name="TextBox 9"/>
          <p:cNvSpPr txBox="1"/>
          <p:nvPr/>
        </p:nvSpPr>
        <p:spPr>
          <a:xfrm>
            <a:off x="6583680" y="3246120"/>
            <a:ext cx="4663440" cy="1094595"/>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We are a small team carrying a big mission. The next 12 months will not be easy. No side projects. No non-portfolio SPVs. No hedging through alternative revenues. No distractions. We give this a 100% shot.</a:t>
            </a:r>
          </a:p>
        </p:txBody>
      </p:sp>
      <p:pic>
        <p:nvPicPr>
          <p:cNvPr id="11" name="Picture 10"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12" name="TextBox 11"/>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4864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THE PATH FORWARD</a:t>
            </a:r>
          </a:p>
        </p:txBody>
      </p:sp>
      <p:sp>
        <p:nvSpPr>
          <p:cNvPr id="3" name="TextBox 2"/>
          <p:cNvSpPr txBox="1"/>
          <p:nvPr/>
        </p:nvSpPr>
        <p:spPr>
          <a:xfrm>
            <a:off x="822960" y="914400"/>
            <a:ext cx="9144000" cy="523220"/>
          </a:xfrm>
          <a:prstGeom prst="rect">
            <a:avLst/>
          </a:prstGeom>
          <a:noFill/>
        </p:spPr>
        <p:txBody>
          <a:bodyPr wrap="square">
            <a:spAutoFit/>
          </a:bodyPr>
          <a:lstStyle/>
          <a:p>
            <a:pPr algn="l">
              <a:defRPr sz="2800" b="0">
                <a:solidFill>
                  <a:srgbClr val="000000"/>
                </a:solidFill>
                <a:latin typeface="Calibri"/>
              </a:defRPr>
            </a:pPr>
            <a:r>
              <a:rPr>
                <a:latin typeface="Studio Pro Inflection Medium" pitchFamily="2" charset="77"/>
                <a:ea typeface="SF Pro Display" pitchFamily="2" charset="0"/>
              </a:rPr>
              <a:t>Seven moves. In order. No shortcuts.</a:t>
            </a:r>
          </a:p>
        </p:txBody>
      </p:sp>
      <p:sp>
        <p:nvSpPr>
          <p:cNvPr id="5" name="TextBox 4"/>
          <p:cNvSpPr txBox="1"/>
          <p:nvPr/>
        </p:nvSpPr>
        <p:spPr>
          <a:xfrm>
            <a:off x="960120" y="1719072"/>
            <a:ext cx="365760" cy="430887"/>
          </a:xfrm>
          <a:prstGeom prst="rect">
            <a:avLst/>
          </a:prstGeom>
          <a:noFill/>
        </p:spPr>
        <p:txBody>
          <a:bodyPr wrap="square">
            <a:spAutoFit/>
          </a:bodyPr>
          <a:lstStyle/>
          <a:p>
            <a:pPr algn="l">
              <a:defRPr sz="2200" b="1">
                <a:solidFill>
                  <a:srgbClr val="000000"/>
                </a:solidFill>
                <a:latin typeface="Calibri"/>
              </a:defRPr>
            </a:pPr>
            <a:r>
              <a:rPr dirty="0">
                <a:solidFill>
                  <a:srgbClr val="9CA2B6"/>
                </a:solidFill>
                <a:latin typeface="Studio Pro Inflection Medium" pitchFamily="2" charset="77"/>
                <a:ea typeface="SF Pro Display" pitchFamily="2" charset="0"/>
              </a:rPr>
              <a:t>1</a:t>
            </a:r>
          </a:p>
        </p:txBody>
      </p:sp>
      <p:sp>
        <p:nvSpPr>
          <p:cNvPr id="6" name="TextBox 5"/>
          <p:cNvSpPr txBox="1"/>
          <p:nvPr/>
        </p:nvSpPr>
        <p:spPr>
          <a:xfrm>
            <a:off x="1325880" y="1700784"/>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Fix the data room</a:t>
            </a:r>
          </a:p>
        </p:txBody>
      </p:sp>
      <p:sp>
        <p:nvSpPr>
          <p:cNvPr id="7" name="TextBox 6"/>
          <p:cNvSpPr txBox="1"/>
          <p:nvPr/>
        </p:nvSpPr>
        <p:spPr>
          <a:xfrm>
            <a:off x="1325880" y="1956816"/>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February. Get brutal feedback from Hutt and Isomer. What exactly triggers the "wait"?</a:t>
            </a:r>
          </a:p>
        </p:txBody>
      </p:sp>
      <p:sp>
        <p:nvSpPr>
          <p:cNvPr id="8" name="TextBox 7"/>
          <p:cNvSpPr txBox="1"/>
          <p:nvPr/>
        </p:nvSpPr>
        <p:spPr>
          <a:xfrm>
            <a:off x="5120640" y="1901952"/>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NOW</a:t>
            </a:r>
          </a:p>
        </p:txBody>
      </p:sp>
      <p:sp>
        <p:nvSpPr>
          <p:cNvPr id="10" name="TextBox 9"/>
          <p:cNvSpPr txBox="1"/>
          <p:nvPr/>
        </p:nvSpPr>
        <p:spPr>
          <a:xfrm>
            <a:off x="960120" y="2596896"/>
            <a:ext cx="365760" cy="430887"/>
          </a:xfrm>
          <a:prstGeom prst="rect">
            <a:avLst/>
          </a:prstGeom>
          <a:noFill/>
        </p:spPr>
        <p:txBody>
          <a:bodyPr wrap="square">
            <a:spAutoFit/>
          </a:bodyPr>
          <a:lstStyle/>
          <a:p>
            <a:pPr algn="l">
              <a:defRPr sz="2200" b="1">
                <a:solidFill>
                  <a:srgbClr val="000000"/>
                </a:solidFill>
                <a:latin typeface="Calibri"/>
              </a:defRPr>
            </a:pPr>
            <a:r>
              <a:rPr>
                <a:solidFill>
                  <a:srgbClr val="9CA2B6"/>
                </a:solidFill>
                <a:latin typeface="Studio Pro Inflection Medium" pitchFamily="2" charset="77"/>
                <a:ea typeface="SF Pro Display" pitchFamily="2" charset="0"/>
              </a:rPr>
              <a:t>2</a:t>
            </a:r>
          </a:p>
        </p:txBody>
      </p:sp>
      <p:sp>
        <p:nvSpPr>
          <p:cNvPr id="11" name="TextBox 10"/>
          <p:cNvSpPr txBox="1"/>
          <p:nvPr/>
        </p:nvSpPr>
        <p:spPr>
          <a:xfrm>
            <a:off x="1325880" y="2578608"/>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Lead with identity, not data</a:t>
            </a:r>
          </a:p>
        </p:txBody>
      </p:sp>
      <p:sp>
        <p:nvSpPr>
          <p:cNvPr id="12" name="TextBox 11"/>
          <p:cNvSpPr txBox="1"/>
          <p:nvPr/>
        </p:nvSpPr>
        <p:spPr>
          <a:xfrm>
            <a:off x="1325880" y="2834640"/>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Feb-March. Rewrite the pitch. Who we are first. Numbers validate the story.</a:t>
            </a:r>
          </a:p>
        </p:txBody>
      </p:sp>
      <p:sp>
        <p:nvSpPr>
          <p:cNvPr id="13" name="TextBox 12"/>
          <p:cNvSpPr txBox="1"/>
          <p:nvPr/>
        </p:nvSpPr>
        <p:spPr>
          <a:xfrm>
            <a:off x="5120640" y="2779776"/>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FEB</a:t>
            </a:r>
          </a:p>
        </p:txBody>
      </p:sp>
      <p:sp>
        <p:nvSpPr>
          <p:cNvPr id="15" name="TextBox 14"/>
          <p:cNvSpPr txBox="1"/>
          <p:nvPr/>
        </p:nvSpPr>
        <p:spPr>
          <a:xfrm>
            <a:off x="960120" y="3474720"/>
            <a:ext cx="365760" cy="430887"/>
          </a:xfrm>
          <a:prstGeom prst="rect">
            <a:avLst/>
          </a:prstGeom>
          <a:noFill/>
        </p:spPr>
        <p:txBody>
          <a:bodyPr wrap="square">
            <a:spAutoFit/>
          </a:bodyPr>
          <a:lstStyle/>
          <a:p>
            <a:pPr algn="l">
              <a:defRPr sz="2200" b="1">
                <a:solidFill>
                  <a:srgbClr val="000000"/>
                </a:solidFill>
                <a:latin typeface="Calibri"/>
              </a:defRPr>
            </a:pPr>
            <a:r>
              <a:rPr>
                <a:solidFill>
                  <a:srgbClr val="9CA2B6"/>
                </a:solidFill>
                <a:latin typeface="Studio Pro Inflection Medium" pitchFamily="2" charset="77"/>
                <a:ea typeface="SF Pro Display" pitchFamily="2" charset="0"/>
              </a:rPr>
              <a:t>3</a:t>
            </a:r>
          </a:p>
        </p:txBody>
      </p:sp>
      <p:sp>
        <p:nvSpPr>
          <p:cNvPr id="16" name="TextBox 15"/>
          <p:cNvSpPr txBox="1"/>
          <p:nvPr/>
        </p:nvSpPr>
        <p:spPr>
          <a:xfrm>
            <a:off x="1325880" y="3456432"/>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Manufacture portfolio catalysts</a:t>
            </a:r>
          </a:p>
        </p:txBody>
      </p:sp>
      <p:sp>
        <p:nvSpPr>
          <p:cNvPr id="17" name="TextBox 16"/>
          <p:cNvSpPr txBox="1"/>
          <p:nvPr/>
        </p:nvSpPr>
        <p:spPr>
          <a:xfrm>
            <a:off x="1325880" y="3712464"/>
            <a:ext cx="3840480" cy="652423"/>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March-Oct. Pick 2-3 Mercury companies closest to milestones. Focus all support there for 90 days. Do 2-3 Mars Fund investments of $1M each.</a:t>
            </a:r>
          </a:p>
        </p:txBody>
      </p:sp>
      <p:sp>
        <p:nvSpPr>
          <p:cNvPr id="18" name="TextBox 17"/>
          <p:cNvSpPr txBox="1"/>
          <p:nvPr/>
        </p:nvSpPr>
        <p:spPr>
          <a:xfrm>
            <a:off x="5120640" y="3657600"/>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MAR</a:t>
            </a:r>
          </a:p>
        </p:txBody>
      </p:sp>
      <p:sp>
        <p:nvSpPr>
          <p:cNvPr id="20" name="TextBox 19"/>
          <p:cNvSpPr txBox="1"/>
          <p:nvPr/>
        </p:nvSpPr>
        <p:spPr>
          <a:xfrm>
            <a:off x="960120" y="4352544"/>
            <a:ext cx="365760" cy="430887"/>
          </a:xfrm>
          <a:prstGeom prst="rect">
            <a:avLst/>
          </a:prstGeom>
          <a:noFill/>
        </p:spPr>
        <p:txBody>
          <a:bodyPr wrap="square">
            <a:spAutoFit/>
          </a:bodyPr>
          <a:lstStyle/>
          <a:p>
            <a:pPr algn="l">
              <a:defRPr sz="2200" b="1">
                <a:solidFill>
                  <a:srgbClr val="000000"/>
                </a:solidFill>
                <a:latin typeface="Calibri"/>
              </a:defRPr>
            </a:pPr>
            <a:r>
              <a:rPr dirty="0">
                <a:solidFill>
                  <a:srgbClr val="9CA2B6"/>
                </a:solidFill>
                <a:latin typeface="Studio Pro Inflection Medium" pitchFamily="2" charset="77"/>
                <a:ea typeface="SF Pro Display" pitchFamily="2" charset="0"/>
              </a:rPr>
              <a:t>4</a:t>
            </a:r>
          </a:p>
        </p:txBody>
      </p:sp>
      <p:sp>
        <p:nvSpPr>
          <p:cNvPr id="21" name="TextBox 20"/>
          <p:cNvSpPr txBox="1"/>
          <p:nvPr/>
        </p:nvSpPr>
        <p:spPr>
          <a:xfrm>
            <a:off x="1325880" y="4334256"/>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Launch follow-on SPVs</a:t>
            </a:r>
          </a:p>
        </p:txBody>
      </p:sp>
      <p:sp>
        <p:nvSpPr>
          <p:cNvPr id="22" name="TextBox 21"/>
          <p:cNvSpPr txBox="1"/>
          <p:nvPr/>
        </p:nvSpPr>
        <p:spPr>
          <a:xfrm>
            <a:off x="1325880" y="4590288"/>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Q2-Q3. When catalysts hit, offer LPs co-investment into our own companies. Not random deals.</a:t>
            </a:r>
          </a:p>
        </p:txBody>
      </p:sp>
      <p:sp>
        <p:nvSpPr>
          <p:cNvPr id="23" name="TextBox 22"/>
          <p:cNvSpPr txBox="1"/>
          <p:nvPr/>
        </p:nvSpPr>
        <p:spPr>
          <a:xfrm>
            <a:off x="5120640" y="4535424"/>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Q2</a:t>
            </a:r>
          </a:p>
        </p:txBody>
      </p:sp>
      <p:sp>
        <p:nvSpPr>
          <p:cNvPr id="25" name="TextBox 24"/>
          <p:cNvSpPr txBox="1"/>
          <p:nvPr/>
        </p:nvSpPr>
        <p:spPr>
          <a:xfrm>
            <a:off x="6446520" y="1719072"/>
            <a:ext cx="365760" cy="430887"/>
          </a:xfrm>
          <a:prstGeom prst="rect">
            <a:avLst/>
          </a:prstGeom>
          <a:noFill/>
        </p:spPr>
        <p:txBody>
          <a:bodyPr wrap="square">
            <a:spAutoFit/>
          </a:bodyPr>
          <a:lstStyle/>
          <a:p>
            <a:pPr algn="l">
              <a:defRPr sz="2200" b="1">
                <a:solidFill>
                  <a:srgbClr val="000000"/>
                </a:solidFill>
                <a:latin typeface="Calibri"/>
              </a:defRPr>
            </a:pPr>
            <a:r>
              <a:rPr>
                <a:solidFill>
                  <a:srgbClr val="9CA2B6"/>
                </a:solidFill>
                <a:latin typeface="Studio Pro Inflection Medium" pitchFamily="2" charset="77"/>
                <a:ea typeface="SF Pro Display" pitchFamily="2" charset="0"/>
              </a:rPr>
              <a:t>5</a:t>
            </a:r>
          </a:p>
        </p:txBody>
      </p:sp>
      <p:sp>
        <p:nvSpPr>
          <p:cNvPr id="26" name="TextBox 25"/>
          <p:cNvSpPr txBox="1"/>
          <p:nvPr/>
        </p:nvSpPr>
        <p:spPr>
          <a:xfrm>
            <a:off x="6812280" y="1700784"/>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Kill the side projects</a:t>
            </a:r>
          </a:p>
        </p:txBody>
      </p:sp>
      <p:sp>
        <p:nvSpPr>
          <p:cNvPr id="27" name="TextBox 26"/>
          <p:cNvSpPr txBox="1"/>
          <p:nvPr/>
        </p:nvSpPr>
        <p:spPr>
          <a:xfrm>
            <a:off x="6812280" y="1956816"/>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Now. No marketplace. No consulting. Every hour goes to fundraising, portfolio, and deals.</a:t>
            </a:r>
          </a:p>
        </p:txBody>
      </p:sp>
      <p:sp>
        <p:nvSpPr>
          <p:cNvPr id="28" name="TextBox 27"/>
          <p:cNvSpPr txBox="1"/>
          <p:nvPr/>
        </p:nvSpPr>
        <p:spPr>
          <a:xfrm>
            <a:off x="10607040" y="1901952"/>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NOW</a:t>
            </a:r>
          </a:p>
        </p:txBody>
      </p:sp>
      <p:sp>
        <p:nvSpPr>
          <p:cNvPr id="30" name="TextBox 29"/>
          <p:cNvSpPr txBox="1"/>
          <p:nvPr/>
        </p:nvSpPr>
        <p:spPr>
          <a:xfrm>
            <a:off x="6446520" y="2596896"/>
            <a:ext cx="365760" cy="430887"/>
          </a:xfrm>
          <a:prstGeom prst="rect">
            <a:avLst/>
          </a:prstGeom>
          <a:noFill/>
        </p:spPr>
        <p:txBody>
          <a:bodyPr wrap="square">
            <a:spAutoFit/>
          </a:bodyPr>
          <a:lstStyle/>
          <a:p>
            <a:pPr algn="l">
              <a:defRPr sz="2200" b="1">
                <a:solidFill>
                  <a:srgbClr val="000000"/>
                </a:solidFill>
                <a:latin typeface="Calibri"/>
              </a:defRPr>
            </a:pPr>
            <a:r>
              <a:rPr>
                <a:solidFill>
                  <a:srgbClr val="9CA2B6"/>
                </a:solidFill>
                <a:latin typeface="Studio Pro Inflection Medium" pitchFamily="2" charset="77"/>
                <a:ea typeface="SF Pro Display" pitchFamily="2" charset="0"/>
              </a:rPr>
              <a:t>6</a:t>
            </a:r>
          </a:p>
        </p:txBody>
      </p:sp>
      <p:sp>
        <p:nvSpPr>
          <p:cNvPr id="31" name="TextBox 30"/>
          <p:cNvSpPr txBox="1"/>
          <p:nvPr/>
        </p:nvSpPr>
        <p:spPr>
          <a:xfrm>
            <a:off x="6812280" y="2578608"/>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Re-engage ghosted LPs with momentum</a:t>
            </a:r>
          </a:p>
        </p:txBody>
      </p:sp>
      <p:sp>
        <p:nvSpPr>
          <p:cNvPr id="32" name="TextBox 31"/>
          <p:cNvSpPr txBox="1"/>
          <p:nvPr/>
        </p:nvSpPr>
        <p:spPr>
          <a:xfrm>
            <a:off x="6812280" y="2834640"/>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May. Push updated marks + new pitch to all 16 data room LPs. Different story, different energy.</a:t>
            </a:r>
          </a:p>
        </p:txBody>
      </p:sp>
      <p:sp>
        <p:nvSpPr>
          <p:cNvPr id="33" name="TextBox 32"/>
          <p:cNvSpPr txBox="1"/>
          <p:nvPr/>
        </p:nvSpPr>
        <p:spPr>
          <a:xfrm>
            <a:off x="10607040" y="2779776"/>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MAY</a:t>
            </a:r>
          </a:p>
        </p:txBody>
      </p:sp>
      <p:sp>
        <p:nvSpPr>
          <p:cNvPr id="35" name="TextBox 34"/>
          <p:cNvSpPr txBox="1"/>
          <p:nvPr/>
        </p:nvSpPr>
        <p:spPr>
          <a:xfrm>
            <a:off x="6446520" y="3474720"/>
            <a:ext cx="365760" cy="430887"/>
          </a:xfrm>
          <a:prstGeom prst="rect">
            <a:avLst/>
          </a:prstGeom>
          <a:noFill/>
        </p:spPr>
        <p:txBody>
          <a:bodyPr wrap="square">
            <a:spAutoFit/>
          </a:bodyPr>
          <a:lstStyle/>
          <a:p>
            <a:pPr algn="l">
              <a:defRPr sz="2200" b="1">
                <a:solidFill>
                  <a:srgbClr val="000000"/>
                </a:solidFill>
                <a:latin typeface="Calibri"/>
              </a:defRPr>
            </a:pPr>
            <a:r>
              <a:rPr>
                <a:solidFill>
                  <a:srgbClr val="9CA2B6"/>
                </a:solidFill>
                <a:latin typeface="Studio Pro Inflection Medium" pitchFamily="2" charset="77"/>
                <a:ea typeface="SF Pro Display" pitchFamily="2" charset="0"/>
              </a:rPr>
              <a:t>7</a:t>
            </a:r>
          </a:p>
        </p:txBody>
      </p:sp>
      <p:sp>
        <p:nvSpPr>
          <p:cNvPr id="36" name="TextBox 35"/>
          <p:cNvSpPr txBox="1"/>
          <p:nvPr/>
        </p:nvSpPr>
        <p:spPr>
          <a:xfrm>
            <a:off x="6812280" y="3456432"/>
            <a:ext cx="3840480" cy="307777"/>
          </a:xfrm>
          <a:prstGeom prst="rect">
            <a:avLst/>
          </a:prstGeom>
          <a:noFill/>
        </p:spPr>
        <p:txBody>
          <a:bodyPr wrap="square">
            <a:spAutoFit/>
          </a:bodyPr>
          <a:lstStyle/>
          <a:p>
            <a:pPr algn="l">
              <a:defRPr sz="1400" b="1">
                <a:solidFill>
                  <a:srgbClr val="000000"/>
                </a:solidFill>
                <a:latin typeface="Calibri"/>
              </a:defRPr>
            </a:pPr>
            <a:r>
              <a:rPr>
                <a:latin typeface="Studio Pro Inflection Medium" pitchFamily="2" charset="77"/>
                <a:ea typeface="SF Pro Display" pitchFamily="2" charset="0"/>
              </a:rPr>
              <a:t>Find peer GPs for mutual support</a:t>
            </a:r>
          </a:p>
        </p:txBody>
      </p:sp>
      <p:sp>
        <p:nvSpPr>
          <p:cNvPr id="37" name="TextBox 36"/>
          <p:cNvSpPr txBox="1"/>
          <p:nvPr/>
        </p:nvSpPr>
        <p:spPr>
          <a:xfrm>
            <a:off x="6812280" y="3712464"/>
            <a:ext cx="3840480" cy="453970"/>
          </a:xfrm>
          <a:prstGeom prst="rect">
            <a:avLst/>
          </a:prstGeom>
          <a:noFill/>
        </p:spPr>
        <p:txBody>
          <a:bodyPr wrap="square">
            <a:spAutoFit/>
          </a:bodyPr>
          <a:lstStyle/>
          <a:p>
            <a:pPr algn="l">
              <a:lnSpc>
                <a:spcPts val="1500"/>
              </a:lnSpc>
              <a:defRPr sz="1000" b="0">
                <a:solidFill>
                  <a:srgbClr val="808080"/>
                </a:solidFill>
                <a:latin typeface="Calibri"/>
              </a:defRPr>
            </a:pPr>
            <a:r>
              <a:rPr>
                <a:latin typeface="Studio Pro Inflection Medium" pitchFamily="2" charset="77"/>
                <a:ea typeface="SF Pro Display" pitchFamily="2" charset="0"/>
              </a:rPr>
              <a:t>Ongoing. 2-3 emerging managers in similar position. Isolation amplifies fear. Peer networks amplify clarity.</a:t>
            </a:r>
          </a:p>
        </p:txBody>
      </p:sp>
      <p:sp>
        <p:nvSpPr>
          <p:cNvPr id="38" name="TextBox 37"/>
          <p:cNvSpPr txBox="1"/>
          <p:nvPr/>
        </p:nvSpPr>
        <p:spPr>
          <a:xfrm>
            <a:off x="10607040" y="3657600"/>
            <a:ext cx="731520" cy="215444"/>
          </a:xfrm>
          <a:prstGeom prst="rect">
            <a:avLst/>
          </a:prstGeom>
          <a:noFill/>
        </p:spPr>
        <p:txBody>
          <a:bodyPr wrap="square">
            <a:spAutoFit/>
          </a:bodyPr>
          <a:lstStyle/>
          <a:p>
            <a:pPr algn="r">
              <a:defRPr sz="800" b="1">
                <a:solidFill>
                  <a:srgbClr val="808080"/>
                </a:solidFill>
                <a:latin typeface="Calibri"/>
              </a:defRPr>
            </a:pPr>
            <a:r>
              <a:rPr>
                <a:latin typeface="Studio Pro Inflection Medium" pitchFamily="2" charset="77"/>
                <a:ea typeface="SF Pro Display" pitchFamily="2" charset="0"/>
              </a:rPr>
              <a:t>ONGOING</a:t>
            </a:r>
          </a:p>
        </p:txBody>
      </p:sp>
      <p:sp>
        <p:nvSpPr>
          <p:cNvPr id="40" name="TextBox 39"/>
          <p:cNvSpPr txBox="1"/>
          <p:nvPr/>
        </p:nvSpPr>
        <p:spPr>
          <a:xfrm>
            <a:off x="6812280" y="5338756"/>
            <a:ext cx="4663440" cy="276999"/>
          </a:xfrm>
          <a:prstGeom prst="rect">
            <a:avLst/>
          </a:prstGeom>
          <a:noFill/>
        </p:spPr>
        <p:txBody>
          <a:bodyPr wrap="square">
            <a:spAutoFit/>
          </a:bodyPr>
          <a:lstStyle/>
          <a:p>
            <a:pPr algn="l">
              <a:defRPr sz="1200" b="1">
                <a:solidFill>
                  <a:srgbClr val="5A6B5D"/>
                </a:solidFill>
                <a:latin typeface="Calibri"/>
              </a:defRPr>
            </a:pPr>
            <a:r>
              <a:rPr dirty="0">
                <a:latin typeface="Studio Pro Inflection Medium" pitchFamily="2" charset="77"/>
                <a:ea typeface="SF Pro Display" pitchFamily="2" charset="0"/>
              </a:rPr>
              <a:t>Target outcome</a:t>
            </a:r>
          </a:p>
        </p:txBody>
      </p:sp>
      <p:sp>
        <p:nvSpPr>
          <p:cNvPr id="41" name="TextBox 40"/>
          <p:cNvSpPr txBox="1"/>
          <p:nvPr/>
        </p:nvSpPr>
        <p:spPr>
          <a:xfrm>
            <a:off x="6812280" y="5585644"/>
            <a:ext cx="4663440" cy="652423"/>
          </a:xfrm>
          <a:prstGeom prst="rect">
            <a:avLst/>
          </a:prstGeom>
          <a:noFill/>
        </p:spPr>
        <p:txBody>
          <a:bodyPr wrap="square">
            <a:spAutoFit/>
          </a:bodyPr>
          <a:lstStyle/>
          <a:p>
            <a:pPr algn="l">
              <a:lnSpc>
                <a:spcPts val="1500"/>
              </a:lnSpc>
              <a:defRPr sz="1000" b="0">
                <a:solidFill>
                  <a:srgbClr val="808080"/>
                </a:solidFill>
                <a:latin typeface="Calibri"/>
              </a:defRPr>
            </a:pPr>
            <a:r>
              <a:rPr dirty="0">
                <a:latin typeface="Studio Pro Inflection Medium" pitchFamily="2" charset="77"/>
                <a:ea typeface="SF Pro Display" pitchFamily="2" charset="0"/>
              </a:rPr>
              <a:t>Second close at $15-20M by summer. Third close at $25-35M by year-end. Momentum narrative replaces "wait and see." To hit $50M+ we can extend the fundraising timeline into 2027 (subject to LPA).</a:t>
            </a:r>
          </a:p>
        </p:txBody>
      </p:sp>
      <p:pic>
        <p:nvPicPr>
          <p:cNvPr id="42" name="Picture 41"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43" name="TextBox 42"/>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822960" y="640080"/>
            <a:ext cx="5486400" cy="246221"/>
          </a:xfrm>
          <a:prstGeom prst="rect">
            <a:avLst/>
          </a:prstGeom>
          <a:noFill/>
        </p:spPr>
        <p:txBody>
          <a:bodyPr wrap="square">
            <a:spAutoFit/>
          </a:bodyPr>
          <a:lstStyle/>
          <a:p>
            <a:pPr algn="l">
              <a:defRPr sz="1000" b="1">
                <a:solidFill>
                  <a:srgbClr val="808080"/>
                </a:solidFill>
                <a:latin typeface="Calibri"/>
              </a:defRPr>
            </a:pPr>
            <a:r>
              <a:rPr>
                <a:latin typeface="Studio Pro Inflection Medium" pitchFamily="2" charset="77"/>
                <a:ea typeface="SF Pro Display" pitchFamily="2" charset="0"/>
              </a:rPr>
              <a:t>TRANSPARENCY</a:t>
            </a:r>
          </a:p>
        </p:txBody>
      </p:sp>
      <p:sp>
        <p:nvSpPr>
          <p:cNvPr id="3" name="TextBox 2"/>
          <p:cNvSpPr txBox="1"/>
          <p:nvPr/>
        </p:nvSpPr>
        <p:spPr>
          <a:xfrm>
            <a:off x="822960" y="1005840"/>
            <a:ext cx="9144000" cy="954107"/>
          </a:xfrm>
          <a:prstGeom prst="rect">
            <a:avLst/>
          </a:prstGeom>
          <a:noFill/>
        </p:spPr>
        <p:txBody>
          <a:bodyPr wrap="square">
            <a:spAutoFit/>
          </a:bodyPr>
          <a:lstStyle/>
          <a:p>
            <a:pPr algn="l">
              <a:defRPr sz="2800" b="0">
                <a:solidFill>
                  <a:srgbClr val="000000"/>
                </a:solidFill>
                <a:latin typeface="Calibri"/>
              </a:defRPr>
            </a:pPr>
            <a:r>
              <a:rPr dirty="0">
                <a:latin typeface="Studio Pro Inflection Medium" pitchFamily="2" charset="77"/>
                <a:ea typeface="SF Pro Display" pitchFamily="2" charset="0"/>
              </a:rPr>
              <a:t>Ideas we considered. </a:t>
            </a:r>
            <a:br>
              <a:rPr lang="de-DE" dirty="0">
                <a:latin typeface="Studio Pro Inflection Medium" pitchFamily="2" charset="77"/>
                <a:ea typeface="SF Pro Display" pitchFamily="2" charset="0"/>
              </a:rPr>
            </a:br>
            <a:r>
              <a:rPr dirty="0">
                <a:latin typeface="Studio Pro Inflection Medium" pitchFamily="2" charset="77"/>
                <a:ea typeface="SF Pro Display" pitchFamily="2" charset="0"/>
              </a:rPr>
              <a:t>And why we should question them.</a:t>
            </a:r>
          </a:p>
        </p:txBody>
      </p:sp>
      <p:sp>
        <p:nvSpPr>
          <p:cNvPr id="5" name="TextBox 4"/>
          <p:cNvSpPr txBox="1"/>
          <p:nvPr/>
        </p:nvSpPr>
        <p:spPr>
          <a:xfrm>
            <a:off x="1097280" y="2286000"/>
            <a:ext cx="2834640" cy="61555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Defense procurement marketplace</a:t>
            </a:r>
          </a:p>
        </p:txBody>
      </p:sp>
      <p:sp>
        <p:nvSpPr>
          <p:cNvPr id="6" name="TextBox 5"/>
          <p:cNvSpPr txBox="1"/>
          <p:nvPr/>
        </p:nvSpPr>
        <p:spPr>
          <a:xfrm>
            <a:off x="1097280" y="2952310"/>
            <a:ext cx="2834640" cy="228600"/>
          </a:xfrm>
          <a:prstGeom prst="rect">
            <a:avLst/>
          </a:prstGeom>
          <a:noFill/>
        </p:spPr>
        <p:txBody>
          <a:bodyPr wrap="square">
            <a:spAutoFit/>
          </a:bodyPr>
          <a:lstStyle/>
          <a:p>
            <a:pPr algn="l">
              <a:defRPr sz="900" b="1">
                <a:solidFill>
                  <a:srgbClr val="808080"/>
                </a:solidFill>
                <a:latin typeface="Calibri"/>
              </a:defRPr>
            </a:pPr>
            <a:r>
              <a:rPr dirty="0">
                <a:latin typeface="Studio Pro Inflection Medium" pitchFamily="2" charset="77"/>
                <a:ea typeface="SF Pro Display" pitchFamily="2" charset="0"/>
              </a:rPr>
              <a:t>DISCUSS</a:t>
            </a:r>
          </a:p>
        </p:txBody>
      </p:sp>
      <p:sp>
        <p:nvSpPr>
          <p:cNvPr id="7" name="TextBox 6"/>
          <p:cNvSpPr txBox="1"/>
          <p:nvPr/>
        </p:nvSpPr>
        <p:spPr>
          <a:xfrm>
            <a:off x="1097280" y="3429000"/>
            <a:ext cx="2834640" cy="1864036"/>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ea typeface="SF Pro Display" pitchFamily="2" charset="0"/>
              </a:rPr>
              <a:t>Building a marketplace is a full-time job for a dedicated team. Creates conflict of interest with portfolio companies. If it fails, we burned 12-18 months of bandwidth. If it works, LPs question whether we are a fund or an operator.</a:t>
            </a:r>
          </a:p>
        </p:txBody>
      </p:sp>
      <p:sp>
        <p:nvSpPr>
          <p:cNvPr id="9" name="TextBox 8"/>
          <p:cNvSpPr txBox="1"/>
          <p:nvPr/>
        </p:nvSpPr>
        <p:spPr>
          <a:xfrm>
            <a:off x="4754880" y="2286000"/>
            <a:ext cx="2834640" cy="61555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AI consulting for Mittelstand</a:t>
            </a:r>
          </a:p>
        </p:txBody>
      </p:sp>
      <p:sp>
        <p:nvSpPr>
          <p:cNvPr id="10" name="TextBox 9"/>
          <p:cNvSpPr txBox="1"/>
          <p:nvPr/>
        </p:nvSpPr>
        <p:spPr>
          <a:xfrm>
            <a:off x="4754880" y="2952310"/>
            <a:ext cx="2834640" cy="228600"/>
          </a:xfrm>
          <a:prstGeom prst="rect">
            <a:avLst/>
          </a:prstGeom>
          <a:noFill/>
        </p:spPr>
        <p:txBody>
          <a:bodyPr wrap="square">
            <a:spAutoFit/>
          </a:bodyPr>
          <a:lstStyle/>
          <a:p>
            <a:pPr algn="l">
              <a:defRPr sz="900" b="1">
                <a:solidFill>
                  <a:srgbClr val="808080"/>
                </a:solidFill>
                <a:latin typeface="Calibri"/>
              </a:defRPr>
            </a:pPr>
            <a:r>
              <a:rPr>
                <a:latin typeface="Studio Pro Inflection Medium" pitchFamily="2" charset="77"/>
                <a:ea typeface="SF Pro Display" pitchFamily="2" charset="0"/>
              </a:rPr>
              <a:t>DISCUSS</a:t>
            </a:r>
          </a:p>
        </p:txBody>
      </p:sp>
      <p:sp>
        <p:nvSpPr>
          <p:cNvPr id="11" name="TextBox 10"/>
          <p:cNvSpPr txBox="1"/>
          <p:nvPr/>
        </p:nvSpPr>
        <p:spPr>
          <a:xfrm>
            <a:off x="4754880" y="3429000"/>
            <a:ext cx="2834640" cy="1856021"/>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ea typeface="SF Pro Display" pitchFamily="2" charset="0"/>
              </a:rPr>
              <a:t>Consulting trades time for money at a linear rate. Zero convexity. Every hour consulting is an hour not fundraising. Signals to LPs that the fund cannot sustain itself. But it does generate short-term cash flow.</a:t>
            </a:r>
          </a:p>
        </p:txBody>
      </p:sp>
      <p:sp>
        <p:nvSpPr>
          <p:cNvPr id="13" name="TextBox 12"/>
          <p:cNvSpPr txBox="1"/>
          <p:nvPr/>
        </p:nvSpPr>
        <p:spPr>
          <a:xfrm>
            <a:off x="8412480" y="2286000"/>
            <a:ext cx="283464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ea typeface="SF Pro Display" pitchFamily="2" charset="0"/>
              </a:rPr>
              <a:t>SPVs into elite companies</a:t>
            </a:r>
          </a:p>
        </p:txBody>
      </p:sp>
      <p:sp>
        <p:nvSpPr>
          <p:cNvPr id="14" name="TextBox 13"/>
          <p:cNvSpPr txBox="1"/>
          <p:nvPr/>
        </p:nvSpPr>
        <p:spPr>
          <a:xfrm>
            <a:off x="8412480" y="2952310"/>
            <a:ext cx="2834640" cy="228600"/>
          </a:xfrm>
          <a:prstGeom prst="rect">
            <a:avLst/>
          </a:prstGeom>
          <a:noFill/>
        </p:spPr>
        <p:txBody>
          <a:bodyPr wrap="square">
            <a:spAutoFit/>
          </a:bodyPr>
          <a:lstStyle/>
          <a:p>
            <a:pPr algn="l">
              <a:defRPr sz="900" b="1">
                <a:solidFill>
                  <a:srgbClr val="8A90A8"/>
                </a:solidFill>
                <a:latin typeface="Calibri"/>
              </a:defRPr>
            </a:pPr>
            <a:r>
              <a:rPr dirty="0">
                <a:latin typeface="Studio Pro Inflection Medium" pitchFamily="2" charset="77"/>
                <a:ea typeface="SF Pro Display" pitchFamily="2" charset="0"/>
              </a:rPr>
              <a:t>DISCUSS</a:t>
            </a:r>
          </a:p>
        </p:txBody>
      </p:sp>
      <p:sp>
        <p:nvSpPr>
          <p:cNvPr id="15" name="TextBox 14"/>
          <p:cNvSpPr txBox="1"/>
          <p:nvPr/>
        </p:nvSpPr>
        <p:spPr>
          <a:xfrm>
            <a:off x="8412480" y="3429000"/>
            <a:ext cx="2834640" cy="1864036"/>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ea typeface="SF Pro Display" pitchFamily="2" charset="0"/>
              </a:rPr>
              <a:t>SPVs into companies we have no relationship with is a different skill set. Dilutes our brand. Hard to get allocation. But follow-on SPVs into our own portfolio could validate our picks, give LPs a low-risk entry, and extend runway.</a:t>
            </a:r>
          </a:p>
        </p:txBody>
      </p:sp>
      <p:pic>
        <p:nvPicPr>
          <p:cNvPr id="16" name="Picture 15"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17" name="TextBox 16"/>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3BCB5"/>
        </a:solidFill>
        <a:effectLst/>
      </p:bgPr>
    </p:bg>
    <p:spTree>
      <p:nvGrpSpPr>
        <p:cNvPr id="1" name=""/>
        <p:cNvGrpSpPr/>
        <p:nvPr/>
      </p:nvGrpSpPr>
      <p:grpSpPr>
        <a:xfrm>
          <a:off x="0" y="0"/>
          <a:ext cx="0" cy="0"/>
          <a:chOff x="0" y="0"/>
          <a:chExt cx="0" cy="0"/>
        </a:xfrm>
      </p:grpSpPr>
      <p:sp>
        <p:nvSpPr>
          <p:cNvPr id="2" name="TextBox 1"/>
          <p:cNvSpPr txBox="1"/>
          <p:nvPr/>
        </p:nvSpPr>
        <p:spPr>
          <a:xfrm>
            <a:off x="640080" y="854537"/>
            <a:ext cx="9144000" cy="246221"/>
          </a:xfrm>
          <a:prstGeom prst="rect">
            <a:avLst/>
          </a:prstGeom>
          <a:noFill/>
        </p:spPr>
        <p:txBody>
          <a:bodyPr wrap="square">
            <a:spAutoFit/>
          </a:bodyPr>
          <a:lstStyle/>
          <a:p>
            <a:pPr>
              <a:defRPr sz="1000" b="1">
                <a:solidFill>
                  <a:srgbClr val="000000"/>
                </a:solidFill>
                <a:latin typeface="Calibri"/>
              </a:defRPr>
            </a:pPr>
            <a:r>
              <a:rPr>
                <a:latin typeface="SF Pro Display" pitchFamily="2" charset="0"/>
                <a:ea typeface="SF Pro Display" pitchFamily="2" charset="0"/>
              </a:rPr>
              <a:t>HONEY BADGER MINDSET</a:t>
            </a:r>
          </a:p>
        </p:txBody>
      </p:sp>
      <p:sp>
        <p:nvSpPr>
          <p:cNvPr id="3" name="TextBox 2"/>
          <p:cNvSpPr txBox="1"/>
          <p:nvPr/>
        </p:nvSpPr>
        <p:spPr>
          <a:xfrm>
            <a:off x="640080" y="1445679"/>
            <a:ext cx="7154805" cy="1179297"/>
          </a:xfrm>
          <a:prstGeom prst="rect">
            <a:avLst/>
          </a:prstGeom>
          <a:noFill/>
        </p:spPr>
        <p:txBody>
          <a:bodyPr wrap="square">
            <a:spAutoFit/>
          </a:bodyPr>
          <a:lstStyle/>
          <a:p>
            <a:pPr>
              <a:lnSpc>
                <a:spcPts val="4400"/>
              </a:lnSpc>
              <a:defRPr sz="3200" b="0">
                <a:solidFill>
                  <a:srgbClr val="000000"/>
                </a:solidFill>
                <a:latin typeface="Calibri"/>
              </a:defRPr>
            </a:pPr>
            <a:r>
              <a:rPr dirty="0">
                <a:latin typeface="Studio Pro Inflection Medium" pitchFamily="2" charset="77"/>
                <a:ea typeface="SF Pro Display" pitchFamily="2" charset="0"/>
              </a:rPr>
              <a:t>Fear whispers:</a:t>
            </a:r>
            <a:br>
              <a:rPr dirty="0">
                <a:latin typeface="Studio Pro Inflection Medium" pitchFamily="2" charset="77"/>
                <a:ea typeface="SF Pro Display" pitchFamily="2" charset="0"/>
              </a:rPr>
            </a:br>
            <a:r>
              <a:rPr dirty="0">
                <a:latin typeface="Studio Pro Inflection Medium" pitchFamily="2" charset="77"/>
                <a:ea typeface="SF Pro Display" pitchFamily="2" charset="0"/>
              </a:rPr>
              <a:t>"Pivot to safety. Diversify. </a:t>
            </a:r>
            <a:r>
              <a:rPr dirty="0" err="1">
                <a:latin typeface="Studio Pro Inflection Medium" pitchFamily="2" charset="77"/>
                <a:ea typeface="SF Pro Display" pitchFamily="2" charset="0"/>
              </a:rPr>
              <a:t>Hedg</a:t>
            </a:r>
            <a:r>
              <a:rPr lang="de-DE" dirty="0" err="1">
                <a:latin typeface="Studio Pro Inflection Medium" pitchFamily="2" charset="77"/>
                <a:ea typeface="SF Pro Display" pitchFamily="2" charset="0"/>
              </a:rPr>
              <a:t>e</a:t>
            </a:r>
            <a:r>
              <a:rPr dirty="0">
                <a:latin typeface="Studio Pro Inflection Medium" pitchFamily="2" charset="77"/>
                <a:ea typeface="SF Pro Display" pitchFamily="2" charset="0"/>
              </a:rPr>
              <a:t>."</a:t>
            </a:r>
          </a:p>
        </p:txBody>
      </p:sp>
      <p:sp>
        <p:nvSpPr>
          <p:cNvPr id="4" name="TextBox 3"/>
          <p:cNvSpPr txBox="1"/>
          <p:nvPr/>
        </p:nvSpPr>
        <p:spPr>
          <a:xfrm>
            <a:off x="640080" y="2725839"/>
            <a:ext cx="7154805" cy="1724062"/>
          </a:xfrm>
          <a:prstGeom prst="rect">
            <a:avLst/>
          </a:prstGeom>
          <a:noFill/>
        </p:spPr>
        <p:txBody>
          <a:bodyPr wrap="square">
            <a:spAutoFit/>
          </a:bodyPr>
          <a:lstStyle/>
          <a:p>
            <a:pPr>
              <a:lnSpc>
                <a:spcPts val="4400"/>
              </a:lnSpc>
              <a:defRPr sz="3200" b="1">
                <a:solidFill>
                  <a:srgbClr val="000000"/>
                </a:solidFill>
                <a:latin typeface="Calibri"/>
              </a:defRPr>
            </a:pPr>
            <a:r>
              <a:rPr dirty="0">
                <a:latin typeface="Studio Pro Inflection Medium" pitchFamily="2" charset="77"/>
                <a:ea typeface="SF Pro Display" pitchFamily="2" charset="0"/>
              </a:rPr>
              <a:t>That is what corporates would do.</a:t>
            </a:r>
            <a:br>
              <a:rPr dirty="0">
                <a:latin typeface="Studio Pro Inflection Medium" pitchFamily="2" charset="77"/>
                <a:ea typeface="SF Pro Display" pitchFamily="2" charset="0"/>
              </a:rPr>
            </a:br>
            <a:r>
              <a:rPr dirty="0">
                <a:latin typeface="Studio Pro Inflection Medium" pitchFamily="2" charset="77"/>
                <a:ea typeface="SF Pro Display" pitchFamily="2" charset="0"/>
              </a:rPr>
              <a:t>We all left them to build</a:t>
            </a:r>
            <a:r>
              <a:rPr lang="de-DE" dirty="0">
                <a:latin typeface="Studio Pro Inflection Medium" pitchFamily="2" charset="77"/>
                <a:ea typeface="SF Pro Display" pitchFamily="2" charset="0"/>
              </a:rPr>
              <a:t> </a:t>
            </a:r>
            <a:r>
              <a:rPr lang="de-DE" dirty="0" err="1">
                <a:latin typeface="Studio Pro Inflection Medium" pitchFamily="2" charset="77"/>
                <a:ea typeface="SF Pro Display" pitchFamily="2" charset="0"/>
              </a:rPr>
              <a:t>something</a:t>
            </a:r>
            <a:r>
              <a:rPr lang="de-DE" dirty="0">
                <a:latin typeface="Studio Pro Inflection Medium" pitchFamily="2" charset="77"/>
                <a:ea typeface="SF Pro Display" pitchFamily="2" charset="0"/>
              </a:rPr>
              <a:t> </a:t>
            </a:r>
            <a:r>
              <a:rPr dirty="0">
                <a:latin typeface="Studio Pro Inflection Medium" pitchFamily="2" charset="77"/>
                <a:ea typeface="SF Pro Display" pitchFamily="2" charset="0"/>
              </a:rPr>
              <a:t>meaningful.</a:t>
            </a:r>
          </a:p>
        </p:txBody>
      </p:sp>
      <p:sp>
        <p:nvSpPr>
          <p:cNvPr id="5" name="TextBox 4"/>
          <p:cNvSpPr txBox="1"/>
          <p:nvPr/>
        </p:nvSpPr>
        <p:spPr>
          <a:xfrm>
            <a:off x="640080" y="4570256"/>
            <a:ext cx="7154805" cy="1049262"/>
          </a:xfrm>
          <a:prstGeom prst="rect">
            <a:avLst/>
          </a:prstGeom>
          <a:noFill/>
        </p:spPr>
        <p:txBody>
          <a:bodyPr wrap="square">
            <a:spAutoFit/>
          </a:bodyPr>
          <a:lstStyle/>
          <a:p>
            <a:pPr>
              <a:lnSpc>
                <a:spcPts val="2600"/>
              </a:lnSpc>
              <a:defRPr sz="1600" b="0">
                <a:solidFill>
                  <a:srgbClr val="000000"/>
                </a:solidFill>
                <a:latin typeface="Calibri"/>
              </a:defRPr>
            </a:pPr>
            <a:r>
              <a:rPr dirty="0">
                <a:latin typeface="Studio Pro Inflection Medium" pitchFamily="2" charset="77"/>
                <a:ea typeface="SF Pro Display" pitchFamily="2" charset="0"/>
              </a:rPr>
              <a:t>The honey badger move is to attack. Double down on who we are, fix the packaging, manufacture the catalysts, and let the market validate what we already know about our portfolio.</a:t>
            </a:r>
          </a:p>
        </p:txBody>
      </p:sp>
      <p:pic>
        <p:nvPicPr>
          <p:cNvPr id="6" name="Picture 5" descr="logo-footer-black.png"/>
          <p:cNvPicPr>
            <a:picLocks noChangeAspect="1"/>
          </p:cNvPicPr>
          <p:nvPr/>
        </p:nvPicPr>
        <p:blipFill>
          <a:blip r:embed="rId2"/>
          <a:stretch>
            <a:fillRect/>
          </a:stretch>
        </p:blipFill>
        <p:spPr>
          <a:xfrm>
            <a:off x="640080" y="6309360"/>
            <a:ext cx="1645920" cy="236601"/>
          </a:xfrm>
          <a:prstGeom prst="rect">
            <a:avLst/>
          </a:prstGeom>
        </p:spPr>
      </p:pic>
      <p:sp>
        <p:nvSpPr>
          <p:cNvPr id="7" name="TextBox 6"/>
          <p:cNvSpPr txBox="1"/>
          <p:nvPr/>
        </p:nvSpPr>
        <p:spPr>
          <a:xfrm>
            <a:off x="11094415" y="6355080"/>
            <a:ext cx="731520" cy="274320"/>
          </a:xfrm>
          <a:prstGeom prst="rect">
            <a:avLst/>
          </a:prstGeom>
          <a:noFill/>
        </p:spPr>
        <p:txBody>
          <a:bodyPr wrap="square">
            <a:spAutoFit/>
          </a:bodyPr>
          <a:lstStyle/>
          <a:p>
            <a:pPr algn="r">
              <a:defRPr sz="1000" b="0">
                <a:solidFill>
                  <a:srgbClr val="5A6B5D"/>
                </a:solidFill>
                <a:latin typeface="Calibri"/>
              </a:defRPr>
            </a:pPr>
            <a:r>
              <a:t>10</a:t>
            </a:r>
          </a:p>
        </p:txBody>
      </p:sp>
      <p:pic>
        <p:nvPicPr>
          <p:cNvPr id="9" name="Picture 8" descr="An animal on a log&#10;&#10;AI-generated content may be incorrect.">
            <a:extLst>
              <a:ext uri="{FF2B5EF4-FFF2-40B4-BE49-F238E27FC236}">
                <a16:creationId xmlns:a16="http://schemas.microsoft.com/office/drawing/2014/main" id="{75C8AB5D-003F-4F82-512F-FCE235EC9A1F}"/>
              </a:ext>
            </a:extLst>
          </p:cNvPr>
          <p:cNvPicPr>
            <a:picLocks noChangeAspect="1"/>
          </p:cNvPicPr>
          <p:nvPr/>
        </p:nvPicPr>
        <p:blipFill>
          <a:blip r:embed="rId3"/>
          <a:stretch>
            <a:fillRect/>
          </a:stretch>
        </p:blipFill>
        <p:spPr>
          <a:xfrm>
            <a:off x="8113064" y="1445679"/>
            <a:ext cx="3438856" cy="42218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6096304"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0"/>
            <a:ext cx="5029200" cy="246221"/>
          </a:xfrm>
          <a:prstGeom prst="rect">
            <a:avLst/>
          </a:prstGeom>
          <a:noFill/>
        </p:spPr>
        <p:txBody>
          <a:bodyPr wrap="square">
            <a:spAutoFit/>
          </a:bodyPr>
          <a:lstStyle/>
          <a:p>
            <a:pPr algn="l">
              <a:defRPr sz="1000" b="1">
                <a:solidFill>
                  <a:srgbClr val="808080"/>
                </a:solidFill>
                <a:latin typeface="Calibri"/>
              </a:defRPr>
            </a:pPr>
            <a:r>
              <a:rPr dirty="0">
                <a:latin typeface="Studio Pro Inflection Medium" pitchFamily="2" charset="77"/>
              </a:rPr>
              <a:t>CLOSING</a:t>
            </a:r>
          </a:p>
        </p:txBody>
      </p:sp>
      <p:sp>
        <p:nvSpPr>
          <p:cNvPr id="4" name="TextBox 3"/>
          <p:cNvSpPr txBox="1"/>
          <p:nvPr/>
        </p:nvSpPr>
        <p:spPr>
          <a:xfrm>
            <a:off x="640080" y="2560320"/>
            <a:ext cx="5029200" cy="1309461"/>
          </a:xfrm>
          <a:prstGeom prst="rect">
            <a:avLst/>
          </a:prstGeom>
          <a:noFill/>
        </p:spPr>
        <p:txBody>
          <a:bodyPr wrap="square">
            <a:spAutoFit/>
          </a:bodyPr>
          <a:lstStyle/>
          <a:p>
            <a:pPr algn="l">
              <a:lnSpc>
                <a:spcPts val="5000"/>
              </a:lnSpc>
              <a:defRPr sz="3800" b="0">
                <a:solidFill>
                  <a:srgbClr val="FFFFFF"/>
                </a:solidFill>
                <a:latin typeface="Calibri"/>
              </a:defRPr>
            </a:pPr>
            <a:r>
              <a:rPr dirty="0">
                <a:latin typeface="Studio Pro Inflection Medium" pitchFamily="2" charset="77"/>
              </a:rPr>
              <a:t>This is not a crisis.</a:t>
            </a:r>
            <a:br>
              <a:rPr dirty="0">
                <a:latin typeface="Studio Pro Inflection Medium" pitchFamily="2" charset="77"/>
              </a:rPr>
            </a:br>
            <a:r>
              <a:rPr dirty="0">
                <a:latin typeface="Studio Pro Inflection Medium" pitchFamily="2" charset="77"/>
              </a:rPr>
              <a:t>This is a test.</a:t>
            </a:r>
          </a:p>
        </p:txBody>
      </p:sp>
      <p:sp>
        <p:nvSpPr>
          <p:cNvPr id="5" name="TextBox 4"/>
          <p:cNvSpPr txBox="1"/>
          <p:nvPr/>
        </p:nvSpPr>
        <p:spPr>
          <a:xfrm>
            <a:off x="640080" y="4172200"/>
            <a:ext cx="4754880" cy="1284006"/>
          </a:xfrm>
          <a:prstGeom prst="rect">
            <a:avLst/>
          </a:prstGeom>
          <a:noFill/>
        </p:spPr>
        <p:txBody>
          <a:bodyPr wrap="square">
            <a:spAutoFit/>
          </a:bodyPr>
          <a:lstStyle/>
          <a:p>
            <a:pPr algn="l">
              <a:lnSpc>
                <a:spcPts val="2400"/>
              </a:lnSpc>
              <a:defRPr sz="1500" b="0">
                <a:solidFill>
                  <a:srgbClr val="808080"/>
                </a:solidFill>
                <a:latin typeface="Calibri"/>
              </a:defRPr>
            </a:pPr>
            <a:r>
              <a:rPr dirty="0">
                <a:latin typeface="Studio Pro Inflection Medium" pitchFamily="2" charset="77"/>
              </a:rPr>
              <a:t>The hardest transition in fund management is micro to institutional. The mortality rate is high. But so is our conviction. We have done hard things before. We will do this one together.</a:t>
            </a:r>
          </a:p>
        </p:txBody>
      </p:sp>
      <p:sp>
        <p:nvSpPr>
          <p:cNvPr id="6" name="TextBox 5"/>
          <p:cNvSpPr txBox="1"/>
          <p:nvPr/>
        </p:nvSpPr>
        <p:spPr>
          <a:xfrm>
            <a:off x="6736384" y="1828800"/>
            <a:ext cx="502920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rPr>
              <a:t>We are not dying</a:t>
            </a:r>
          </a:p>
        </p:txBody>
      </p:sp>
      <p:sp>
        <p:nvSpPr>
          <p:cNvPr id="7" name="TextBox 6"/>
          <p:cNvSpPr txBox="1"/>
          <p:nvPr/>
        </p:nvSpPr>
        <p:spPr>
          <a:xfrm>
            <a:off x="6736384" y="2148840"/>
            <a:ext cx="4754880" cy="573619"/>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rPr>
              <a:t>We have runway, committed LPs, a proven thesis, and a portfolio that is pre-inflection, not failing.</a:t>
            </a:r>
          </a:p>
        </p:txBody>
      </p:sp>
      <p:sp>
        <p:nvSpPr>
          <p:cNvPr id="8" name="TextBox 7"/>
          <p:cNvSpPr txBox="1"/>
          <p:nvPr/>
        </p:nvSpPr>
        <p:spPr>
          <a:xfrm>
            <a:off x="6736384" y="3042499"/>
            <a:ext cx="5029200" cy="353943"/>
          </a:xfrm>
          <a:prstGeom prst="rect">
            <a:avLst/>
          </a:prstGeom>
          <a:noFill/>
        </p:spPr>
        <p:txBody>
          <a:bodyPr wrap="square">
            <a:spAutoFit/>
          </a:bodyPr>
          <a:lstStyle/>
          <a:p>
            <a:pPr algn="l">
              <a:defRPr sz="1700" b="1">
                <a:solidFill>
                  <a:srgbClr val="000000"/>
                </a:solidFill>
                <a:latin typeface="Calibri"/>
              </a:defRPr>
            </a:pPr>
            <a:r>
              <a:rPr dirty="0">
                <a:latin typeface="Studio Pro Inflection Medium" pitchFamily="2" charset="77"/>
              </a:rPr>
              <a:t>The substance is right</a:t>
            </a:r>
          </a:p>
        </p:txBody>
      </p:sp>
      <p:sp>
        <p:nvSpPr>
          <p:cNvPr id="9" name="TextBox 8"/>
          <p:cNvSpPr txBox="1"/>
          <p:nvPr/>
        </p:nvSpPr>
        <p:spPr>
          <a:xfrm>
            <a:off x="6736384" y="3362539"/>
            <a:ext cx="4754880" cy="830099"/>
          </a:xfrm>
          <a:prstGeom prst="rect">
            <a:avLst/>
          </a:prstGeom>
          <a:noFill/>
        </p:spPr>
        <p:txBody>
          <a:bodyPr wrap="square">
            <a:spAutoFit/>
          </a:bodyPr>
          <a:lstStyle/>
          <a:p>
            <a:pPr algn="l">
              <a:lnSpc>
                <a:spcPts val="2000"/>
              </a:lnSpc>
              <a:defRPr sz="1300" b="0">
                <a:solidFill>
                  <a:srgbClr val="808080"/>
                </a:solidFill>
                <a:latin typeface="Calibri"/>
              </a:defRPr>
            </a:pPr>
            <a:r>
              <a:rPr dirty="0">
                <a:latin typeface="Studio Pro Inflection Medium" pitchFamily="2" charset="77"/>
              </a:rPr>
              <a:t>8x Fund I. Sovereign compute thesis playing out. Defense pivot ahead of market. The packaging is wrong, not the product.</a:t>
            </a:r>
          </a:p>
        </p:txBody>
      </p:sp>
      <p:sp>
        <p:nvSpPr>
          <p:cNvPr id="10" name="TextBox 9"/>
          <p:cNvSpPr txBox="1"/>
          <p:nvPr/>
        </p:nvSpPr>
        <p:spPr>
          <a:xfrm>
            <a:off x="6736384" y="4389120"/>
            <a:ext cx="5029200" cy="353943"/>
          </a:xfrm>
          <a:prstGeom prst="rect">
            <a:avLst/>
          </a:prstGeom>
          <a:noFill/>
        </p:spPr>
        <p:txBody>
          <a:bodyPr wrap="square">
            <a:spAutoFit/>
          </a:bodyPr>
          <a:lstStyle/>
          <a:p>
            <a:pPr algn="l">
              <a:defRPr sz="1700" b="1">
                <a:solidFill>
                  <a:srgbClr val="000000"/>
                </a:solidFill>
                <a:latin typeface="Calibri"/>
              </a:defRPr>
            </a:pPr>
            <a:r>
              <a:rPr>
                <a:latin typeface="Studio Pro Inflection Medium" pitchFamily="2" charset="77"/>
              </a:rPr>
              <a:t>We go forward together</a:t>
            </a:r>
          </a:p>
        </p:txBody>
      </p:sp>
      <p:sp>
        <p:nvSpPr>
          <p:cNvPr id="11" name="TextBox 10"/>
          <p:cNvSpPr txBox="1"/>
          <p:nvPr/>
        </p:nvSpPr>
        <p:spPr>
          <a:xfrm>
            <a:off x="6736384" y="4709160"/>
            <a:ext cx="4754880" cy="830099"/>
          </a:xfrm>
          <a:prstGeom prst="rect">
            <a:avLst/>
          </a:prstGeom>
          <a:noFill/>
        </p:spPr>
        <p:txBody>
          <a:bodyPr wrap="square">
            <a:spAutoFit/>
          </a:bodyPr>
          <a:lstStyle/>
          <a:p>
            <a:pPr algn="l">
              <a:lnSpc>
                <a:spcPts val="2000"/>
              </a:lnSpc>
              <a:defRPr sz="1300" b="0">
                <a:solidFill>
                  <a:srgbClr val="808080"/>
                </a:solidFill>
                <a:latin typeface="Calibri"/>
              </a:defRPr>
            </a:pPr>
            <a:r>
              <a:rPr>
                <a:latin typeface="Studio Pro Inflection Medium" pitchFamily="2" charset="77"/>
              </a:rPr>
              <a:t>No information asymmetry. Same numbers, same pressure, same mission. For us this is a life's work. That has not changed.</a:t>
            </a:r>
          </a:p>
        </p:txBody>
      </p:sp>
      <p:sp>
        <p:nvSpPr>
          <p:cNvPr id="13" name="TextBox 12"/>
          <p:cNvSpPr txBox="1"/>
          <p:nvPr/>
        </p:nvSpPr>
        <p:spPr>
          <a:xfrm>
            <a:off x="6736384" y="6035040"/>
            <a:ext cx="2743200" cy="292388"/>
          </a:xfrm>
          <a:prstGeom prst="rect">
            <a:avLst/>
          </a:prstGeom>
          <a:noFill/>
        </p:spPr>
        <p:txBody>
          <a:bodyPr wrap="square">
            <a:spAutoFit/>
          </a:bodyPr>
          <a:lstStyle/>
          <a:p>
            <a:pPr algn="l">
              <a:defRPr sz="1300" b="0">
                <a:solidFill>
                  <a:srgbClr val="808080"/>
                </a:solidFill>
                <a:latin typeface="Calibri"/>
              </a:defRPr>
            </a:pPr>
            <a:r>
              <a:rPr dirty="0">
                <a:latin typeface="Studio Pro Inflection Medium" pitchFamily="2" charset="77"/>
              </a:rPr>
              <a:t>February 2026</a:t>
            </a:r>
          </a:p>
        </p:txBody>
      </p:sp>
      <p:pic>
        <p:nvPicPr>
          <p:cNvPr id="14" name="Picture 13" descr="logo-footer-white.png"/>
          <p:cNvPicPr>
            <a:picLocks noChangeAspect="1"/>
          </p:cNvPicPr>
          <p:nvPr/>
        </p:nvPicPr>
        <p:blipFill>
          <a:blip r:embed="rId2"/>
          <a:stretch>
            <a:fillRect/>
          </a:stretch>
        </p:blipFill>
        <p:spPr>
          <a:xfrm>
            <a:off x="640080" y="6309360"/>
            <a:ext cx="1645920" cy="236601"/>
          </a:xfrm>
          <a:prstGeom prst="rect">
            <a:avLst/>
          </a:prstGeom>
        </p:spPr>
      </p:pic>
      <p:sp>
        <p:nvSpPr>
          <p:cNvPr id="15" name="TextBox 14"/>
          <p:cNvSpPr txBox="1"/>
          <p:nvPr/>
        </p:nvSpPr>
        <p:spPr>
          <a:xfrm>
            <a:off x="11094415" y="6355080"/>
            <a:ext cx="731520" cy="274320"/>
          </a:xfrm>
          <a:prstGeom prst="rect">
            <a:avLst/>
          </a:prstGeom>
          <a:noFill/>
        </p:spPr>
        <p:txBody>
          <a:bodyPr wrap="square">
            <a:spAutoFit/>
          </a:bodyPr>
          <a:lstStyle/>
          <a:p>
            <a:pPr algn="r">
              <a:defRPr sz="1000" b="0">
                <a:solidFill>
                  <a:srgbClr val="808080"/>
                </a:solidFill>
                <a:latin typeface="Calibri"/>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2242</TotalTime>
  <Words>1632</Words>
  <Application>Microsoft Macintosh PowerPoint</Application>
  <PresentationFormat>Widescreen</PresentationFormat>
  <Paragraphs>150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SF Pro Display</vt:lpstr>
      <vt:lpstr>Studio Pro</vt:lpstr>
      <vt:lpstr>Studio Pro Inflection Medium</vt:lpstr>
      <vt:lpstr>Studio Pro Inflection Medium 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Alexander Lange</cp:lastModifiedBy>
  <cp:revision>6</cp:revision>
  <cp:lastPrinted>2026-02-10T19:59:51Z</cp:lastPrinted>
  <dcterms:created xsi:type="dcterms:W3CDTF">2013-01-27T09:14:16Z</dcterms:created>
  <dcterms:modified xsi:type="dcterms:W3CDTF">2026-02-12T08:39:33Z</dcterms:modified>
  <cp:category/>
</cp:coreProperties>
</file>