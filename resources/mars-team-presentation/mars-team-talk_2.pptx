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7" r:id="rId10"/>
    <p:sldId id="263"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A2B6"/>
    <a:srgbClr val="5A6A5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p:restoredTop sz="94643"/>
  </p:normalViewPr>
  <p:slideViewPr>
    <p:cSldViewPr snapToGrid="0" snapToObjects="1">
      <p:cViewPr>
        <p:scale>
          <a:sx n="86" d="100"/>
          <a:sy n="86" d="100"/>
        </p:scale>
        <p:origin x="760" y="25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002827"/>
            <a:ext cx="5486400" cy="246221"/>
          </a:xfrm>
          <a:prstGeom prst="rect">
            <a:avLst/>
          </a:prstGeom>
          <a:noFill/>
        </p:spPr>
        <p:txBody>
          <a:bodyPr wrap="square">
            <a:spAutoFit/>
          </a:bodyPr>
          <a:lstStyle/>
          <a:p>
            <a:pPr algn="l">
              <a:defRPr sz="1000" b="1">
                <a:solidFill>
                  <a:srgbClr val="808080"/>
                </a:solidFill>
                <a:latin typeface="Calibri"/>
              </a:defRPr>
            </a:pPr>
            <a:r>
              <a:rPr lang="de-DE" dirty="0">
                <a:latin typeface="Studio Pro Inflection Medium" pitchFamily="2" charset="77"/>
                <a:ea typeface="SF Pro Display" pitchFamily="2" charset="0"/>
              </a:rPr>
              <a:t>ALL HANDS</a:t>
            </a:r>
            <a:r>
              <a:rPr dirty="0">
                <a:latin typeface="Studio Pro Inflection Medium" pitchFamily="2" charset="77"/>
                <a:ea typeface="SF Pro Display" pitchFamily="2" charset="0"/>
              </a:rPr>
              <a:t>  /  FEBRUARY 2026</a:t>
            </a:r>
          </a:p>
        </p:txBody>
      </p:sp>
      <p:sp>
        <p:nvSpPr>
          <p:cNvPr id="3" name="TextBox 2"/>
          <p:cNvSpPr txBox="1"/>
          <p:nvPr/>
        </p:nvSpPr>
        <p:spPr>
          <a:xfrm>
            <a:off x="822960" y="2459504"/>
            <a:ext cx="5066872" cy="1938992"/>
          </a:xfrm>
          <a:prstGeom prst="rect">
            <a:avLst/>
          </a:prstGeom>
          <a:noFill/>
        </p:spPr>
        <p:txBody>
          <a:bodyPr wrap="square">
            <a:spAutoFit/>
          </a:bodyPr>
          <a:lstStyle/>
          <a:p>
            <a:pPr algn="l">
              <a:defRPr sz="6000" b="0">
                <a:solidFill>
                  <a:srgbClr val="000000"/>
                </a:solidFill>
                <a:latin typeface="Calibri"/>
              </a:defRPr>
            </a:pPr>
            <a:r>
              <a:rPr dirty="0">
                <a:latin typeface="Studio Pro Inflection Medium" pitchFamily="2" charset="77"/>
                <a:ea typeface="SF Pro Display" pitchFamily="2" charset="0"/>
              </a:rPr>
              <a:t>Where </a:t>
            </a:r>
            <a:r>
              <a:rPr lang="de-DE" dirty="0">
                <a:latin typeface="Studio Pro Inflection Medium" pitchFamily="2" charset="77"/>
                <a:ea typeface="SF Pro Display" pitchFamily="2" charset="0"/>
              </a:rPr>
              <a:t>W</a:t>
            </a:r>
            <a:r>
              <a:rPr dirty="0">
                <a:latin typeface="Studio Pro Inflection Medium" pitchFamily="2" charset="77"/>
                <a:ea typeface="SF Pro Display" pitchFamily="2" charset="0"/>
              </a:rPr>
              <a:t>e </a:t>
            </a:r>
            <a:br>
              <a:rPr lang="de-DE" dirty="0">
                <a:latin typeface="Studio Pro Inflection Medium" pitchFamily="2" charset="77"/>
                <a:ea typeface="SF Pro Display" pitchFamily="2" charset="0"/>
              </a:rPr>
            </a:br>
            <a:r>
              <a:rPr lang="de-DE" dirty="0">
                <a:latin typeface="Studio Pro Inflection Medium" pitchFamily="2" charset="77"/>
                <a:ea typeface="SF Pro Display" pitchFamily="2" charset="0"/>
              </a:rPr>
              <a:t>S</a:t>
            </a:r>
            <a:r>
              <a:rPr dirty="0" err="1">
                <a:latin typeface="Studio Pro Inflection Medium" pitchFamily="2" charset="77"/>
                <a:ea typeface="SF Pro Display" pitchFamily="2" charset="0"/>
              </a:rPr>
              <a:t>tand</a:t>
            </a:r>
            <a:endParaRPr dirty="0">
              <a:latin typeface="Studio Pro Inflection Medium" pitchFamily="2" charset="77"/>
              <a:ea typeface="SF Pro Display" pitchFamily="2" charset="0"/>
            </a:endParaRPr>
          </a:p>
        </p:txBody>
      </p:sp>
      <p:sp>
        <p:nvSpPr>
          <p:cNvPr id="4" name="TextBox 3"/>
          <p:cNvSpPr txBox="1"/>
          <p:nvPr/>
        </p:nvSpPr>
        <p:spPr>
          <a:xfrm>
            <a:off x="822960" y="4608952"/>
            <a:ext cx="3374286" cy="1124795"/>
          </a:xfrm>
          <a:prstGeom prst="rect">
            <a:avLst/>
          </a:prstGeom>
          <a:noFill/>
        </p:spPr>
        <p:txBody>
          <a:bodyPr wrap="square">
            <a:spAutoFit/>
          </a:bodyPr>
          <a:lstStyle/>
          <a:p>
            <a:pPr algn="l">
              <a:lnSpc>
                <a:spcPts val="2800"/>
              </a:lnSpc>
              <a:defRPr sz="1800" b="0">
                <a:solidFill>
                  <a:srgbClr val="808080"/>
                </a:solidFill>
                <a:latin typeface="Calibri"/>
              </a:defRPr>
            </a:pPr>
            <a:r>
              <a:rPr dirty="0">
                <a:latin typeface="Studio Pro Inflection Medium" pitchFamily="2" charset="77"/>
                <a:ea typeface="SF Pro Display" pitchFamily="2" charset="0"/>
              </a:rPr>
              <a:t>A hard look at our position. </a:t>
            </a:r>
            <a:br>
              <a:rPr lang="de-DE" dirty="0">
                <a:latin typeface="Studio Pro Inflection Medium" pitchFamily="2" charset="77"/>
                <a:ea typeface="SF Pro Display" pitchFamily="2" charset="0"/>
              </a:rPr>
            </a:br>
            <a:r>
              <a:rPr dirty="0">
                <a:latin typeface="Studio Pro Inflection Medium" pitchFamily="2" charset="77"/>
                <a:ea typeface="SF Pro Display" pitchFamily="2" charset="0"/>
              </a:rPr>
              <a:t>No sugarcoating. No panic.</a:t>
            </a:r>
            <a:endParaRPr lang="de-DE" dirty="0">
              <a:latin typeface="Studio Pro Inflection Medium" pitchFamily="2" charset="77"/>
              <a:ea typeface="SF Pro Display" pitchFamily="2" charset="0"/>
            </a:endParaRPr>
          </a:p>
          <a:p>
            <a:pPr algn="l">
              <a:lnSpc>
                <a:spcPts val="2800"/>
              </a:lnSpc>
              <a:defRPr sz="1800" b="0">
                <a:solidFill>
                  <a:srgbClr val="808080"/>
                </a:solidFill>
                <a:latin typeface="Calibri"/>
              </a:defRPr>
            </a:pPr>
            <a:r>
              <a:rPr lang="en-DE" dirty="0">
                <a:latin typeface="Studio Pro Inflection Medium" pitchFamily="2" charset="77"/>
                <a:ea typeface="SF Pro Display" pitchFamily="2" charset="0"/>
              </a:rPr>
              <a:t>But conviction.</a:t>
            </a:r>
            <a:r>
              <a:rPr dirty="0">
                <a:latin typeface="Studio Pro Inflection Medium" pitchFamily="2" charset="77"/>
                <a:ea typeface="SF Pro Display" pitchFamily="2" charset="0"/>
              </a:rPr>
              <a:t> </a:t>
            </a:r>
          </a:p>
        </p:txBody>
      </p:sp>
      <p:pic>
        <p:nvPicPr>
          <p:cNvPr id="5" name="Picture 4"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6" name="TextBox 5"/>
          <p:cNvSpPr txBox="1"/>
          <p:nvPr/>
        </p:nvSpPr>
        <p:spPr>
          <a:xfrm>
            <a:off x="11094415" y="6355080"/>
            <a:ext cx="731520" cy="246221"/>
          </a:xfrm>
          <a:prstGeom prst="rect">
            <a:avLst/>
          </a:prstGeom>
          <a:noFill/>
        </p:spPr>
        <p:txBody>
          <a:bodyPr wrap="square">
            <a:spAutoFit/>
          </a:bodyPr>
          <a:lstStyle/>
          <a:p>
            <a:pPr algn="r">
              <a:defRPr sz="1000" b="0">
                <a:solidFill>
                  <a:srgbClr val="808080"/>
                </a:solidFill>
                <a:latin typeface="Calibri"/>
              </a:defRPr>
            </a:pPr>
            <a:r>
              <a:rPr>
                <a:latin typeface="Studio Pro" pitchFamily="2" charset="77"/>
              </a:rPr>
              <a:t>01</a:t>
            </a:r>
          </a:p>
        </p:txBody>
      </p:sp>
      <p:pic>
        <p:nvPicPr>
          <p:cNvPr id="17" name="Picture 16" descr="A statue of a bearded person&#10;&#10;AI-generated content may be incorrect.">
            <a:extLst>
              <a:ext uri="{FF2B5EF4-FFF2-40B4-BE49-F238E27FC236}">
                <a16:creationId xmlns:a16="http://schemas.microsoft.com/office/drawing/2014/main" id="{557A3E6C-3B37-4C4D-06D3-6691404ECA8A}"/>
              </a:ext>
            </a:extLst>
          </p:cNvPr>
          <p:cNvPicPr>
            <a:picLocks noChangeAspect="1"/>
          </p:cNvPicPr>
          <p:nvPr/>
        </p:nvPicPr>
        <p:blipFill>
          <a:blip r:embed="rId3"/>
          <a:stretch>
            <a:fillRect/>
          </a:stretch>
        </p:blipFill>
        <p:spPr>
          <a:xfrm>
            <a:off x="5889832" y="189805"/>
            <a:ext cx="6094800" cy="64783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THE HONEST NUMBERS</a:t>
            </a:r>
          </a:p>
        </p:txBody>
      </p:sp>
      <p:sp>
        <p:nvSpPr>
          <p:cNvPr id="3" name="TextBox 2"/>
          <p:cNvSpPr txBox="1"/>
          <p:nvPr/>
        </p:nvSpPr>
        <p:spPr>
          <a:xfrm>
            <a:off x="822960" y="100584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Where our funds sit today</a:t>
            </a:r>
          </a:p>
        </p:txBody>
      </p:sp>
      <p:sp>
        <p:nvSpPr>
          <p:cNvPr id="5" name="TextBox 4"/>
          <p:cNvSpPr txBox="1"/>
          <p:nvPr/>
        </p:nvSpPr>
        <p:spPr>
          <a:xfrm>
            <a:off x="1097280" y="2103120"/>
            <a:ext cx="2834640" cy="228600"/>
          </a:xfrm>
          <a:prstGeom prst="rect">
            <a:avLst/>
          </a:prstGeom>
          <a:noFill/>
        </p:spPr>
        <p:txBody>
          <a:bodyPr wrap="square">
            <a:spAutoFit/>
          </a:bodyPr>
          <a:lstStyle/>
          <a:p>
            <a:pPr algn="l">
              <a:defRPr sz="900" b="1">
                <a:solidFill>
                  <a:srgbClr val="8A9A8D"/>
                </a:solidFill>
                <a:latin typeface="Calibri"/>
              </a:defRPr>
            </a:pPr>
            <a:r>
              <a:rPr>
                <a:latin typeface="Studio Pro Inflection Medium" pitchFamily="2" charset="77"/>
                <a:ea typeface="SF Pro Display" pitchFamily="2" charset="0"/>
              </a:rPr>
              <a:t>FUND I  /  PILOT</a:t>
            </a:r>
          </a:p>
        </p:txBody>
      </p:sp>
      <p:sp>
        <p:nvSpPr>
          <p:cNvPr id="6" name="TextBox 5"/>
          <p:cNvSpPr txBox="1"/>
          <p:nvPr/>
        </p:nvSpPr>
        <p:spPr>
          <a:xfrm>
            <a:off x="1097280" y="2468880"/>
            <a:ext cx="1828800" cy="830997"/>
          </a:xfrm>
          <a:prstGeom prst="rect">
            <a:avLst/>
          </a:prstGeom>
          <a:noFill/>
        </p:spPr>
        <p:txBody>
          <a:bodyPr wrap="square">
            <a:spAutoFit/>
          </a:bodyPr>
          <a:lstStyle/>
          <a:p>
            <a:pPr algn="l">
              <a:defRPr sz="4800" b="1">
                <a:solidFill>
                  <a:srgbClr val="8A9A8D"/>
                </a:solidFill>
                <a:latin typeface="Calibri"/>
              </a:defRPr>
            </a:pPr>
            <a:r>
              <a:rPr>
                <a:latin typeface="Studio Pro Inflection Medium" pitchFamily="2" charset="77"/>
                <a:ea typeface="SF Pro Display" pitchFamily="2" charset="0"/>
              </a:rPr>
              <a:t>8x</a:t>
            </a:r>
          </a:p>
        </p:txBody>
      </p:sp>
      <p:sp>
        <p:nvSpPr>
          <p:cNvPr id="7" name="TextBox 6"/>
          <p:cNvSpPr txBox="1"/>
          <p:nvPr/>
        </p:nvSpPr>
        <p:spPr>
          <a:xfrm>
            <a:off x="10972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TVPI</a:t>
            </a:r>
          </a:p>
        </p:txBody>
      </p:sp>
      <p:sp>
        <p:nvSpPr>
          <p:cNvPr id="8" name="TextBox 7"/>
          <p:cNvSpPr txBox="1"/>
          <p:nvPr/>
        </p:nvSpPr>
        <p:spPr>
          <a:xfrm>
            <a:off x="1097280" y="3657600"/>
            <a:ext cx="109728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DPI</a:t>
            </a:r>
          </a:p>
        </p:txBody>
      </p:sp>
      <p:sp>
        <p:nvSpPr>
          <p:cNvPr id="9" name="TextBox 8"/>
          <p:cNvSpPr txBox="1"/>
          <p:nvPr/>
        </p:nvSpPr>
        <p:spPr>
          <a:xfrm>
            <a:off x="1097280" y="3840480"/>
            <a:ext cx="109728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3x</a:t>
            </a:r>
          </a:p>
        </p:txBody>
      </p:sp>
      <p:sp>
        <p:nvSpPr>
          <p:cNvPr id="10" name="TextBox 9"/>
          <p:cNvSpPr txBox="1"/>
          <p:nvPr/>
        </p:nvSpPr>
        <p:spPr>
          <a:xfrm>
            <a:off x="24688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Fund Size</a:t>
            </a:r>
          </a:p>
        </p:txBody>
      </p:sp>
      <p:sp>
        <p:nvSpPr>
          <p:cNvPr id="11" name="TextBox 10"/>
          <p:cNvSpPr txBox="1"/>
          <p:nvPr/>
        </p:nvSpPr>
        <p:spPr>
          <a:xfrm>
            <a:off x="24688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$1.1M</a:t>
            </a:r>
          </a:p>
        </p:txBody>
      </p:sp>
      <p:sp>
        <p:nvSpPr>
          <p:cNvPr id="12" name="TextBox 11"/>
          <p:cNvSpPr txBox="1"/>
          <p:nvPr/>
        </p:nvSpPr>
        <p:spPr>
          <a:xfrm>
            <a:off x="1097280" y="4572000"/>
            <a:ext cx="2834640" cy="1086580"/>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Exceptional returns. Real distributions. But LPs discount the fund size as "angel-scale, not institutional."</a:t>
            </a:r>
          </a:p>
        </p:txBody>
      </p:sp>
      <p:sp>
        <p:nvSpPr>
          <p:cNvPr id="14" name="TextBox 13"/>
          <p:cNvSpPr txBox="1"/>
          <p:nvPr/>
        </p:nvSpPr>
        <p:spPr>
          <a:xfrm>
            <a:off x="4754880" y="2103120"/>
            <a:ext cx="2834640" cy="228600"/>
          </a:xfrm>
          <a:prstGeom prst="rect">
            <a:avLst/>
          </a:prstGeom>
          <a:noFill/>
        </p:spPr>
        <p:txBody>
          <a:bodyPr wrap="square">
            <a:spAutoFit/>
          </a:bodyPr>
          <a:lstStyle/>
          <a:p>
            <a:pPr algn="l">
              <a:defRPr sz="900" b="1">
                <a:solidFill>
                  <a:srgbClr val="808080"/>
                </a:solidFill>
                <a:latin typeface="Calibri"/>
              </a:defRPr>
            </a:pPr>
            <a:r>
              <a:rPr>
                <a:latin typeface="Studio Pro Inflection Medium" pitchFamily="2" charset="77"/>
                <a:ea typeface="SF Pro Display" pitchFamily="2" charset="0"/>
              </a:rPr>
              <a:t>FUND II  /  MERCURY</a:t>
            </a:r>
          </a:p>
        </p:txBody>
      </p:sp>
      <p:sp>
        <p:nvSpPr>
          <p:cNvPr id="15" name="TextBox 14"/>
          <p:cNvSpPr txBox="1"/>
          <p:nvPr/>
        </p:nvSpPr>
        <p:spPr>
          <a:xfrm>
            <a:off x="4754880" y="2468880"/>
            <a:ext cx="2286000" cy="830997"/>
          </a:xfrm>
          <a:prstGeom prst="rect">
            <a:avLst/>
          </a:prstGeom>
          <a:noFill/>
        </p:spPr>
        <p:txBody>
          <a:bodyPr wrap="square">
            <a:spAutoFit/>
          </a:bodyPr>
          <a:lstStyle/>
          <a:p>
            <a:pPr algn="l">
              <a:defRPr sz="4800" b="1">
                <a:solidFill>
                  <a:srgbClr val="808080"/>
                </a:solidFill>
                <a:latin typeface="Calibri"/>
              </a:defRPr>
            </a:pPr>
            <a:r>
              <a:rPr>
                <a:latin typeface="Studio Pro Inflection Medium" pitchFamily="2" charset="77"/>
                <a:ea typeface="SF Pro Display" pitchFamily="2" charset="0"/>
              </a:rPr>
              <a:t>0.95x</a:t>
            </a:r>
          </a:p>
        </p:txBody>
      </p:sp>
      <p:sp>
        <p:nvSpPr>
          <p:cNvPr id="16" name="TextBox 15"/>
          <p:cNvSpPr txBox="1"/>
          <p:nvPr/>
        </p:nvSpPr>
        <p:spPr>
          <a:xfrm>
            <a:off x="47548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TVPI (current)</a:t>
            </a:r>
          </a:p>
        </p:txBody>
      </p:sp>
      <p:sp>
        <p:nvSpPr>
          <p:cNvPr id="17" name="TextBox 16"/>
          <p:cNvSpPr txBox="1"/>
          <p:nvPr/>
        </p:nvSpPr>
        <p:spPr>
          <a:xfrm>
            <a:off x="47548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Bullish scenario</a:t>
            </a:r>
          </a:p>
        </p:txBody>
      </p:sp>
      <p:sp>
        <p:nvSpPr>
          <p:cNvPr id="18" name="TextBox 17"/>
          <p:cNvSpPr txBox="1"/>
          <p:nvPr/>
        </p:nvSpPr>
        <p:spPr>
          <a:xfrm>
            <a:off x="47548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~1.3x</a:t>
            </a:r>
          </a:p>
        </p:txBody>
      </p:sp>
      <p:sp>
        <p:nvSpPr>
          <p:cNvPr id="19" name="TextBox 18"/>
          <p:cNvSpPr txBox="1"/>
          <p:nvPr/>
        </p:nvSpPr>
        <p:spPr>
          <a:xfrm>
            <a:off x="630936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Fund Size</a:t>
            </a:r>
          </a:p>
        </p:txBody>
      </p:sp>
      <p:sp>
        <p:nvSpPr>
          <p:cNvPr id="20" name="TextBox 19"/>
          <p:cNvSpPr txBox="1"/>
          <p:nvPr/>
        </p:nvSpPr>
        <p:spPr>
          <a:xfrm>
            <a:off x="630936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$40M</a:t>
            </a:r>
          </a:p>
        </p:txBody>
      </p:sp>
      <p:sp>
        <p:nvSpPr>
          <p:cNvPr id="21" name="TextBox 20"/>
          <p:cNvSpPr txBox="1"/>
          <p:nvPr/>
        </p:nvSpPr>
        <p:spPr>
          <a:xfrm>
            <a:off x="4754880" y="4572000"/>
            <a:ext cx="283464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2022 vintage. Pre-seed/seed deep tech. Below water on marks. This is the number LPs see first.</a:t>
            </a:r>
          </a:p>
        </p:txBody>
      </p:sp>
      <p:sp>
        <p:nvSpPr>
          <p:cNvPr id="23" name="TextBox 22"/>
          <p:cNvSpPr txBox="1"/>
          <p:nvPr/>
        </p:nvSpPr>
        <p:spPr>
          <a:xfrm>
            <a:off x="8412480" y="2103120"/>
            <a:ext cx="2834640" cy="228600"/>
          </a:xfrm>
          <a:prstGeom prst="rect">
            <a:avLst/>
          </a:prstGeom>
          <a:noFill/>
        </p:spPr>
        <p:txBody>
          <a:bodyPr wrap="square">
            <a:spAutoFit/>
          </a:bodyPr>
          <a:lstStyle/>
          <a:p>
            <a:pPr algn="l">
              <a:defRPr sz="900" b="1">
                <a:solidFill>
                  <a:srgbClr val="8A90A8"/>
                </a:solidFill>
                <a:latin typeface="Calibri"/>
              </a:defRPr>
            </a:pPr>
            <a:r>
              <a:rPr>
                <a:latin typeface="Studio Pro Inflection Medium" pitchFamily="2" charset="77"/>
                <a:ea typeface="SF Pro Display" pitchFamily="2" charset="0"/>
              </a:rPr>
              <a:t>FUND III  /  MARS</a:t>
            </a:r>
          </a:p>
        </p:txBody>
      </p:sp>
      <p:sp>
        <p:nvSpPr>
          <p:cNvPr id="24" name="TextBox 23"/>
          <p:cNvSpPr txBox="1"/>
          <p:nvPr/>
        </p:nvSpPr>
        <p:spPr>
          <a:xfrm>
            <a:off x="8412480" y="2468880"/>
            <a:ext cx="1828800" cy="830997"/>
          </a:xfrm>
          <a:prstGeom prst="rect">
            <a:avLst/>
          </a:prstGeom>
          <a:noFill/>
        </p:spPr>
        <p:txBody>
          <a:bodyPr wrap="square">
            <a:spAutoFit/>
          </a:bodyPr>
          <a:lstStyle/>
          <a:p>
            <a:pPr algn="l">
              <a:defRPr sz="4800" b="1">
                <a:solidFill>
                  <a:srgbClr val="8A90A8"/>
                </a:solidFill>
                <a:latin typeface="Calibri"/>
              </a:defRPr>
            </a:pPr>
            <a:r>
              <a:rPr>
                <a:latin typeface="Studio Pro Inflection Medium" pitchFamily="2" charset="77"/>
                <a:ea typeface="SF Pro Display" pitchFamily="2" charset="0"/>
              </a:rPr>
              <a:t>$5M</a:t>
            </a:r>
          </a:p>
        </p:txBody>
      </p:sp>
      <p:sp>
        <p:nvSpPr>
          <p:cNvPr id="25" name="TextBox 24"/>
          <p:cNvSpPr txBox="1"/>
          <p:nvPr/>
        </p:nvSpPr>
        <p:spPr>
          <a:xfrm>
            <a:off x="84124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First Close</a:t>
            </a:r>
          </a:p>
        </p:txBody>
      </p:sp>
      <p:sp>
        <p:nvSpPr>
          <p:cNvPr id="26" name="TextBox 25"/>
          <p:cNvSpPr txBox="1"/>
          <p:nvPr/>
        </p:nvSpPr>
        <p:spPr>
          <a:xfrm>
            <a:off x="8412480" y="3657600"/>
            <a:ext cx="109728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Target</a:t>
            </a:r>
          </a:p>
        </p:txBody>
      </p:sp>
      <p:sp>
        <p:nvSpPr>
          <p:cNvPr id="27" name="TextBox 26"/>
          <p:cNvSpPr txBox="1"/>
          <p:nvPr/>
        </p:nvSpPr>
        <p:spPr>
          <a:xfrm>
            <a:off x="8412480" y="3840480"/>
            <a:ext cx="118872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$50M</a:t>
            </a:r>
          </a:p>
        </p:txBody>
      </p:sp>
      <p:sp>
        <p:nvSpPr>
          <p:cNvPr id="28" name="TextBox 27"/>
          <p:cNvSpPr txBox="1"/>
          <p:nvPr/>
        </p:nvSpPr>
        <p:spPr>
          <a:xfrm>
            <a:off x="97840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Soft Commits</a:t>
            </a:r>
          </a:p>
        </p:txBody>
      </p:sp>
      <p:sp>
        <p:nvSpPr>
          <p:cNvPr id="29" name="TextBox 28"/>
          <p:cNvSpPr txBox="1"/>
          <p:nvPr/>
        </p:nvSpPr>
        <p:spPr>
          <a:xfrm>
            <a:off x="97840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~$2M</a:t>
            </a:r>
          </a:p>
        </p:txBody>
      </p:sp>
      <p:sp>
        <p:nvSpPr>
          <p:cNvPr id="30" name="TextBox 29"/>
          <p:cNvSpPr txBox="1"/>
          <p:nvPr/>
        </p:nvSpPr>
        <p:spPr>
          <a:xfrm>
            <a:off x="8412480" y="4572000"/>
            <a:ext cx="2834640" cy="581634"/>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Long way to go. 16 data room LPs ghosted. The fundraise is stalling.</a:t>
            </a:r>
          </a:p>
        </p:txBody>
      </p:sp>
      <p:pic>
        <p:nvPicPr>
          <p:cNvPr id="31" name="Picture 30"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32" name="TextBox 31"/>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20BA936-E24A-D4C2-B475-EBF696E341DC}"/>
              </a:ext>
            </a:extLst>
          </p:cNvPr>
          <p:cNvSpPr/>
          <p:nvPr/>
        </p:nvSpPr>
        <p:spPr>
          <a:xfrm>
            <a:off x="6490970" y="3807079"/>
            <a:ext cx="5060950" cy="2751201"/>
          </a:xfrm>
          <a:prstGeom prst="rect">
            <a:avLst/>
          </a:prstGeom>
          <a:solidFill>
            <a:srgbClr val="9CA2B6">
              <a:alpha val="2509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dirty="0"/>
          </a:p>
        </p:txBody>
      </p:sp>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CONTEXT</a:t>
            </a:r>
          </a:p>
        </p:txBody>
      </p:sp>
      <p:sp>
        <p:nvSpPr>
          <p:cNvPr id="3" name="TextBox 2"/>
          <p:cNvSpPr txBox="1"/>
          <p:nvPr/>
        </p:nvSpPr>
        <p:spPr>
          <a:xfrm>
            <a:off x="822960" y="1005840"/>
            <a:ext cx="9144000" cy="1032206"/>
          </a:xfrm>
          <a:prstGeom prst="rect">
            <a:avLst/>
          </a:prstGeom>
          <a:noFill/>
        </p:spPr>
        <p:txBody>
          <a:bodyPr wrap="square">
            <a:spAutoFit/>
          </a:bodyPr>
          <a:lstStyle/>
          <a:p>
            <a:pPr algn="l">
              <a:lnSpc>
                <a:spcPts val="3800"/>
              </a:lnSpc>
              <a:defRPr sz="2800" b="0">
                <a:solidFill>
                  <a:srgbClr val="000000"/>
                </a:solidFill>
                <a:latin typeface="Calibri"/>
              </a:defRPr>
            </a:pPr>
            <a:r>
              <a:rPr>
                <a:latin typeface="Studio Pro Inflection Medium" pitchFamily="2" charset="77"/>
                <a:ea typeface="SF Pro Display" pitchFamily="2" charset="0"/>
              </a:rPr>
              <a:t>1.3x TVPI at year 4 is not a death sentence.</a:t>
            </a:r>
            <a:br>
              <a:rPr>
                <a:latin typeface="Studio Pro Inflection Medium" pitchFamily="2" charset="77"/>
                <a:ea typeface="SF Pro Display" pitchFamily="2" charset="0"/>
              </a:rPr>
            </a:br>
            <a:r>
              <a:rPr>
                <a:latin typeface="Studio Pro Inflection Medium" pitchFamily="2" charset="77"/>
                <a:ea typeface="SF Pro Display" pitchFamily="2" charset="0"/>
              </a:rPr>
              <a:t>But it is not enough to raise on numbers alone.</a:t>
            </a:r>
          </a:p>
        </p:txBody>
      </p:sp>
      <p:sp>
        <p:nvSpPr>
          <p:cNvPr id="5" name="TextBox 4"/>
          <p:cNvSpPr txBox="1"/>
          <p:nvPr/>
        </p:nvSpPr>
        <p:spPr>
          <a:xfrm>
            <a:off x="1097280" y="2423160"/>
            <a:ext cx="4480560" cy="323165"/>
          </a:xfrm>
          <a:prstGeom prst="rect">
            <a:avLst/>
          </a:prstGeom>
          <a:noFill/>
        </p:spPr>
        <p:txBody>
          <a:bodyPr wrap="square">
            <a:spAutoFit/>
          </a:bodyPr>
          <a:lstStyle/>
          <a:p>
            <a:pPr algn="l">
              <a:defRPr sz="1500" b="1">
                <a:solidFill>
                  <a:srgbClr val="000000"/>
                </a:solidFill>
                <a:latin typeface="Calibri"/>
              </a:defRPr>
            </a:pPr>
            <a:r>
              <a:rPr dirty="0">
                <a:latin typeface="Studio Pro Inflection Medium" pitchFamily="2" charset="77"/>
                <a:ea typeface="SF Pro Display" pitchFamily="2" charset="0"/>
              </a:rPr>
              <a:t>2022 is the worst vintage in a decade</a:t>
            </a:r>
          </a:p>
        </p:txBody>
      </p:sp>
      <p:sp>
        <p:nvSpPr>
          <p:cNvPr id="6" name="TextBox 5"/>
          <p:cNvSpPr txBox="1"/>
          <p:nvPr/>
        </p:nvSpPr>
        <p:spPr>
          <a:xfrm>
            <a:off x="1097280" y="2743200"/>
            <a:ext cx="448056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Valuations peaked, markets crashed, follow-on funding dried up. Every 2022 vintage fund is sitting on compressed marks. This is not unique to us.</a:t>
            </a:r>
          </a:p>
        </p:txBody>
      </p:sp>
      <p:sp>
        <p:nvSpPr>
          <p:cNvPr id="8" name="TextBox 7"/>
          <p:cNvSpPr txBox="1"/>
          <p:nvPr/>
        </p:nvSpPr>
        <p:spPr>
          <a:xfrm>
            <a:off x="1097280" y="37947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Deep tech J-curve is longer</a:t>
            </a:r>
          </a:p>
        </p:txBody>
      </p:sp>
      <p:sp>
        <p:nvSpPr>
          <p:cNvPr id="9" name="TextBox 8"/>
          <p:cNvSpPr txBox="1"/>
          <p:nvPr/>
        </p:nvSpPr>
        <p:spPr>
          <a:xfrm>
            <a:off x="1097280" y="4114800"/>
            <a:ext cx="4480560" cy="1086580"/>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SaaS marks up on revenue multiples. Deep tech marks up on technical milestones, government contracts, and large follow-on rounds. Our companies are pre-inflection, not failing.</a:t>
            </a:r>
          </a:p>
        </p:txBody>
      </p:sp>
      <p:sp>
        <p:nvSpPr>
          <p:cNvPr id="11" name="TextBox 10"/>
          <p:cNvSpPr txBox="1"/>
          <p:nvPr/>
        </p:nvSpPr>
        <p:spPr>
          <a:xfrm>
            <a:off x="1097280" y="51663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Funds settle into terminal quartile at year 5-6</a:t>
            </a:r>
          </a:p>
        </p:txBody>
      </p:sp>
      <p:sp>
        <p:nvSpPr>
          <p:cNvPr id="12" name="TextBox 11"/>
          <p:cNvSpPr txBox="1"/>
          <p:nvPr/>
        </p:nvSpPr>
        <p:spPr>
          <a:xfrm>
            <a:off x="1097280" y="5486400"/>
            <a:ext cx="4480560" cy="83009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Cambridge Associates data is clear: judging a deep tech fund at year 3-4 is like judging a marathon runner at mil</a:t>
            </a:r>
            <a:r>
              <a:rPr lang="en-GB" dirty="0">
                <a:latin typeface="Studio Pro Inflection Medium" pitchFamily="2" charset="77"/>
                <a:ea typeface="SF Pro Display" pitchFamily="2" charset="0"/>
              </a:rPr>
              <a:t>e</a:t>
            </a:r>
            <a:r>
              <a:rPr lang="en-DE" dirty="0">
                <a:latin typeface="Studio Pro Inflection Medium" pitchFamily="2" charset="77"/>
                <a:ea typeface="SF Pro Display" pitchFamily="2" charset="0"/>
              </a:rPr>
              <a:t> 8.</a:t>
            </a:r>
            <a:endParaRPr dirty="0">
              <a:latin typeface="Studio Pro Inflection Medium" pitchFamily="2" charset="77"/>
              <a:ea typeface="SF Pro Display" pitchFamily="2" charset="0"/>
            </a:endParaRPr>
          </a:p>
        </p:txBody>
      </p:sp>
      <p:sp>
        <p:nvSpPr>
          <p:cNvPr id="14" name="TextBox 13"/>
          <p:cNvSpPr txBox="1"/>
          <p:nvPr/>
        </p:nvSpPr>
        <p:spPr>
          <a:xfrm>
            <a:off x="6492240" y="24231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But median does not raise a Fund III</a:t>
            </a:r>
          </a:p>
        </p:txBody>
      </p:sp>
      <p:sp>
        <p:nvSpPr>
          <p:cNvPr id="15" name="TextBox 14"/>
          <p:cNvSpPr txBox="1"/>
          <p:nvPr/>
        </p:nvSpPr>
        <p:spPr>
          <a:xfrm>
            <a:off x="6492240" y="2743200"/>
            <a:ext cx="448056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1.3x at year 4 is roughly median for the vintage. LPs want top quartile trajectory or a compelling story for why marks are about to inflect.</a:t>
            </a:r>
          </a:p>
        </p:txBody>
      </p:sp>
      <p:sp>
        <p:nvSpPr>
          <p:cNvPr id="17" name="TextBox 16"/>
          <p:cNvSpPr txBox="1"/>
          <p:nvPr/>
        </p:nvSpPr>
        <p:spPr>
          <a:xfrm>
            <a:off x="6492240" y="3931920"/>
            <a:ext cx="4480560" cy="323165"/>
          </a:xfrm>
          <a:prstGeom prst="rect">
            <a:avLst/>
          </a:prstGeom>
          <a:noFill/>
        </p:spPr>
        <p:txBody>
          <a:bodyPr wrap="square">
            <a:spAutoFit/>
          </a:bodyPr>
          <a:lstStyle/>
          <a:p>
            <a:pPr algn="l">
              <a:defRPr sz="1500" b="1">
                <a:solidFill>
                  <a:srgbClr val="5A6B5D"/>
                </a:solidFill>
                <a:latin typeface="Calibri"/>
              </a:defRPr>
            </a:pPr>
            <a:r>
              <a:rPr dirty="0">
                <a:latin typeface="Studio Pro Inflection Medium" pitchFamily="2" charset="77"/>
                <a:ea typeface="SF Pro Display" pitchFamily="2" charset="0"/>
              </a:rPr>
              <a:t>What actually matters</a:t>
            </a:r>
          </a:p>
        </p:txBody>
      </p:sp>
      <p:sp>
        <p:nvSpPr>
          <p:cNvPr id="18" name="TextBox 17"/>
          <p:cNvSpPr txBox="1"/>
          <p:nvPr/>
        </p:nvSpPr>
        <p:spPr>
          <a:xfrm>
            <a:off x="6492240" y="4297680"/>
            <a:ext cx="4480560" cy="718338"/>
          </a:xfrm>
          <a:prstGeom prst="rect">
            <a:avLst/>
          </a:prstGeom>
          <a:noFill/>
        </p:spPr>
        <p:txBody>
          <a:bodyPr wrap="square">
            <a:spAutoFit/>
          </a:bodyPr>
          <a:lstStyle/>
          <a:p>
            <a:pPr algn="l">
              <a:lnSpc>
                <a:spcPts val="2600"/>
              </a:lnSpc>
              <a:defRPr sz="1700" b="0">
                <a:solidFill>
                  <a:srgbClr val="000000"/>
                </a:solidFill>
                <a:latin typeface="Calibri"/>
              </a:defRPr>
            </a:pPr>
            <a:r>
              <a:rPr dirty="0">
                <a:latin typeface="Studio Pro Inflection Medium" pitchFamily="2" charset="77"/>
                <a:ea typeface="SF Pro Display" pitchFamily="2" charset="0"/>
              </a:rPr>
              <a:t>It is the </a:t>
            </a:r>
            <a:r>
              <a:rPr b="1" dirty="0">
                <a:latin typeface="Studio Pro Inflection Medium It" pitchFamily="2" charset="77"/>
                <a:ea typeface="SF Pro Display" pitchFamily="2" charset="0"/>
              </a:rPr>
              <a:t>slope of the curve</a:t>
            </a:r>
            <a:r>
              <a:rPr dirty="0">
                <a:latin typeface="Studio Pro Inflection Medium" pitchFamily="2" charset="77"/>
                <a:ea typeface="SF Pro Display" pitchFamily="2" charset="0"/>
              </a:rPr>
              <a:t> and the credibility of what comes next.</a:t>
            </a:r>
          </a:p>
        </p:txBody>
      </p:sp>
      <p:sp>
        <p:nvSpPr>
          <p:cNvPr id="19" name="TextBox 18"/>
          <p:cNvSpPr txBox="1"/>
          <p:nvPr/>
        </p:nvSpPr>
        <p:spPr>
          <a:xfrm>
            <a:off x="6492240" y="5293167"/>
            <a:ext cx="4480560" cy="757130"/>
          </a:xfrm>
          <a:prstGeom prst="rect">
            <a:avLst/>
          </a:prstGeom>
          <a:noFill/>
        </p:spPr>
        <p:txBody>
          <a:bodyPr wrap="square">
            <a:spAutoFit/>
          </a:bodyPr>
          <a:lstStyle/>
          <a:p>
            <a:pPr algn="l">
              <a:lnSpc>
                <a:spcPts val="1800"/>
              </a:lnSpc>
              <a:defRPr sz="1200" b="0">
                <a:solidFill>
                  <a:srgbClr val="808080"/>
                </a:solidFill>
                <a:latin typeface="Calibri"/>
              </a:defRPr>
            </a:pPr>
            <a:r>
              <a:rPr dirty="0">
                <a:latin typeface="Studio Pro Inflection Medium" pitchFamily="2" charset="77"/>
                <a:ea typeface="SF Pro Display" pitchFamily="2" charset="0"/>
              </a:rPr>
              <a:t>If we show LPs that 0.95x is becoming 1.3x because specific companies received term sheets at validated external prices, that momentum signal is more persuasive than the number</a:t>
            </a:r>
            <a:r>
              <a:rPr lang="de-DE" dirty="0">
                <a:latin typeface="Studio Pro Inflection Medium" pitchFamily="2" charset="77"/>
                <a:ea typeface="SF Pro Display" pitchFamily="2" charset="0"/>
              </a:rPr>
              <a:t>.</a:t>
            </a:r>
            <a:endParaRPr dirty="0">
              <a:latin typeface="Studio Pro Inflection Medium" pitchFamily="2" charset="77"/>
              <a:ea typeface="SF Pro Display" pitchFamily="2" charset="0"/>
            </a:endParaRPr>
          </a:p>
        </p:txBody>
      </p:sp>
      <p:pic>
        <p:nvPicPr>
          <p:cNvPr id="20" name="Picture 19"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21" name="TextBox 20"/>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DIAGNOSIS</a:t>
            </a:r>
          </a:p>
        </p:txBody>
      </p:sp>
      <p:sp>
        <p:nvSpPr>
          <p:cNvPr id="3" name="TextBox 2"/>
          <p:cNvSpPr txBox="1"/>
          <p:nvPr/>
        </p:nvSpPr>
        <p:spPr>
          <a:xfrm>
            <a:off x="822960" y="100584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Why 16 out of 16 data room LPs went silent</a:t>
            </a:r>
          </a:p>
        </p:txBody>
      </p:sp>
      <p:sp>
        <p:nvSpPr>
          <p:cNvPr id="4" name="TextBox 3"/>
          <p:cNvSpPr txBox="1"/>
          <p:nvPr/>
        </p:nvSpPr>
        <p:spPr>
          <a:xfrm>
            <a:off x="822960" y="201168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1</a:t>
            </a:r>
          </a:p>
        </p:txBody>
      </p:sp>
      <p:sp>
        <p:nvSpPr>
          <p:cNvPr id="5" name="TextBox 4"/>
          <p:cNvSpPr txBox="1"/>
          <p:nvPr/>
        </p:nvSpPr>
        <p:spPr>
          <a:xfrm>
            <a:off x="1371600" y="201168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Fund II gives them permission to wait</a:t>
            </a:r>
          </a:p>
        </p:txBody>
      </p:sp>
      <p:sp>
        <p:nvSpPr>
          <p:cNvPr id="6" name="TextBox 5"/>
          <p:cNvSpPr txBox="1"/>
          <p:nvPr/>
        </p:nvSpPr>
        <p:spPr>
          <a:xfrm>
            <a:off x="1371600" y="237744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LP opens data room, sees below-water marks, thinks: "I will wait for momentum." Ghosting is easier than saying "your numbers are not there yet."</a:t>
            </a:r>
          </a:p>
        </p:txBody>
      </p:sp>
      <p:sp>
        <p:nvSpPr>
          <p:cNvPr id="7" name="TextBox 6"/>
          <p:cNvSpPr txBox="1"/>
          <p:nvPr/>
        </p:nvSpPr>
        <p:spPr>
          <a:xfrm>
            <a:off x="822960" y="347472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2</a:t>
            </a:r>
          </a:p>
        </p:txBody>
      </p:sp>
      <p:sp>
        <p:nvSpPr>
          <p:cNvPr id="8" name="TextBox 7"/>
          <p:cNvSpPr txBox="1"/>
          <p:nvPr/>
        </p:nvSpPr>
        <p:spPr>
          <a:xfrm>
            <a:off x="1371600" y="347472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No urgency mechanism in our materials</a:t>
            </a:r>
          </a:p>
        </p:txBody>
      </p:sp>
      <p:sp>
        <p:nvSpPr>
          <p:cNvPr id="9" name="TextBox 8"/>
          <p:cNvSpPr txBox="1"/>
          <p:nvPr/>
        </p:nvSpPr>
        <p:spPr>
          <a:xfrm>
            <a:off x="1371600" y="384048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Our pitch reads as standard deep tech thesis + team + portfolio. Nothing makes LPs feel they will miss something irreplaceable by waiting.</a:t>
            </a:r>
          </a:p>
        </p:txBody>
      </p:sp>
      <p:sp>
        <p:nvSpPr>
          <p:cNvPr id="10" name="TextBox 9"/>
          <p:cNvSpPr txBox="1"/>
          <p:nvPr/>
        </p:nvSpPr>
        <p:spPr>
          <a:xfrm>
            <a:off x="822960" y="493776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3</a:t>
            </a:r>
          </a:p>
        </p:txBody>
      </p:sp>
      <p:sp>
        <p:nvSpPr>
          <p:cNvPr id="11" name="TextBox 10"/>
          <p:cNvSpPr txBox="1"/>
          <p:nvPr/>
        </p:nvSpPr>
        <p:spPr>
          <a:xfrm>
            <a:off x="1371600" y="493776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Allocation bucket mismatch</a:t>
            </a:r>
          </a:p>
        </p:txBody>
      </p:sp>
      <p:sp>
        <p:nvSpPr>
          <p:cNvPr id="12" name="TextBox 11"/>
          <p:cNvSpPr txBox="1"/>
          <p:nvPr/>
        </p:nvSpPr>
        <p:spPr>
          <a:xfrm>
            <a:off x="1371600" y="530352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"European pre-seed deep tech" is not a standard allocation category. We are asking LPs to create a new bucket. That is a fundamentally harder sale.</a:t>
            </a:r>
          </a:p>
        </p:txBody>
      </p:sp>
      <p:sp>
        <p:nvSpPr>
          <p:cNvPr id="14" name="TextBox 13"/>
          <p:cNvSpPr txBox="1"/>
          <p:nvPr/>
        </p:nvSpPr>
        <p:spPr>
          <a:xfrm>
            <a:off x="7772399" y="2468880"/>
            <a:ext cx="338328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compounding effect</a:t>
            </a:r>
          </a:p>
        </p:txBody>
      </p:sp>
      <p:sp>
        <p:nvSpPr>
          <p:cNvPr id="15" name="TextBox 14"/>
          <p:cNvSpPr txBox="1"/>
          <p:nvPr/>
        </p:nvSpPr>
        <p:spPr>
          <a:xfrm>
            <a:off x="7772399" y="2834640"/>
            <a:ext cx="3383280" cy="1599540"/>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No single factor is a dealbreaker. But combined, they create inertia. Performance gives permission to wait. Lack of differentiation gives no reason to act. Bucket mismatch removes the internal champion.</a:t>
            </a:r>
          </a:p>
        </p:txBody>
      </p:sp>
      <p:sp>
        <p:nvSpPr>
          <p:cNvPr id="16" name="TextBox 15"/>
          <p:cNvSpPr txBox="1"/>
          <p:nvPr/>
        </p:nvSpPr>
        <p:spPr>
          <a:xfrm>
            <a:off x="7770900" y="4476775"/>
            <a:ext cx="3383280" cy="581569"/>
          </a:xfrm>
          <a:prstGeom prst="rect">
            <a:avLst/>
          </a:prstGeom>
          <a:noFill/>
        </p:spPr>
        <p:txBody>
          <a:bodyPr wrap="square">
            <a:spAutoFit/>
          </a:bodyPr>
          <a:lstStyle/>
          <a:p>
            <a:pPr algn="l">
              <a:lnSpc>
                <a:spcPts val="2000"/>
              </a:lnSpc>
              <a:defRPr sz="1300" b="1">
                <a:solidFill>
                  <a:srgbClr val="000000"/>
                </a:solidFill>
                <a:latin typeface="Calibri"/>
              </a:defRPr>
            </a:pPr>
            <a:r>
              <a:rPr dirty="0">
                <a:latin typeface="Studio Pro Inflection Medium" pitchFamily="2" charset="77"/>
                <a:ea typeface="SF Pro Display" pitchFamily="2" charset="0"/>
              </a:rPr>
              <a:t>We need to break the compound. </a:t>
            </a:r>
            <a:endParaRPr lang="de-DE" dirty="0">
              <a:latin typeface="Studio Pro Inflection Medium" pitchFamily="2" charset="77"/>
              <a:ea typeface="SF Pro Display" pitchFamily="2" charset="0"/>
            </a:endParaRPr>
          </a:p>
          <a:p>
            <a:pPr algn="l">
              <a:lnSpc>
                <a:spcPts val="2000"/>
              </a:lnSpc>
              <a:defRPr sz="1300" b="1">
                <a:solidFill>
                  <a:srgbClr val="000000"/>
                </a:solidFill>
                <a:latin typeface="Calibri"/>
              </a:defRPr>
            </a:pPr>
            <a:r>
              <a:rPr dirty="0">
                <a:latin typeface="Studio Pro Inflection Medium" pitchFamily="2" charset="77"/>
                <a:ea typeface="SF Pro Display" pitchFamily="2" charset="0"/>
              </a:rPr>
              <a:t>Attack all three simultaneously.</a:t>
            </a:r>
          </a:p>
        </p:txBody>
      </p:sp>
      <p:pic>
        <p:nvPicPr>
          <p:cNvPr id="17" name="Picture 16"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8" name="TextBox 17"/>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30632"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40080" y="1828800"/>
            <a:ext cx="5029200" cy="246221"/>
          </a:xfrm>
          <a:prstGeom prst="rect">
            <a:avLst/>
          </a:prstGeom>
          <a:noFill/>
        </p:spPr>
        <p:txBody>
          <a:bodyPr wrap="square">
            <a:spAutoFit/>
          </a:bodyPr>
          <a:lstStyle/>
          <a:p>
            <a:pPr algn="l">
              <a:defRPr sz="1000" b="1">
                <a:solidFill>
                  <a:srgbClr val="808080"/>
                </a:solidFill>
                <a:latin typeface="Calibri"/>
              </a:defRPr>
            </a:pPr>
            <a:r>
              <a:rPr dirty="0">
                <a:latin typeface="Studio Pro Inflection Medium" pitchFamily="2" charset="77"/>
                <a:ea typeface="SF Pro Display" pitchFamily="2" charset="0"/>
              </a:rPr>
              <a:t>BEING HONEST WITH YOU</a:t>
            </a:r>
          </a:p>
        </p:txBody>
      </p:sp>
      <p:sp>
        <p:nvSpPr>
          <p:cNvPr id="4" name="TextBox 3"/>
          <p:cNvSpPr txBox="1"/>
          <p:nvPr/>
        </p:nvSpPr>
        <p:spPr>
          <a:xfrm>
            <a:off x="640080" y="2377440"/>
            <a:ext cx="5029200" cy="1010085"/>
          </a:xfrm>
          <a:prstGeom prst="rect">
            <a:avLst/>
          </a:prstGeom>
          <a:noFill/>
        </p:spPr>
        <p:txBody>
          <a:bodyPr wrap="square">
            <a:spAutoFit/>
          </a:bodyPr>
          <a:lstStyle/>
          <a:p>
            <a:pPr algn="l">
              <a:lnSpc>
                <a:spcPts val="3800"/>
              </a:lnSpc>
              <a:defRPr sz="2600" b="0">
                <a:solidFill>
                  <a:srgbClr val="FFFFFF"/>
                </a:solidFill>
                <a:latin typeface="Calibri"/>
              </a:defRPr>
            </a:pPr>
            <a:r>
              <a:rPr dirty="0">
                <a:latin typeface="Studio Pro Inflection Medium" pitchFamily="2" charset="77"/>
                <a:ea typeface="SF Pro Display" pitchFamily="2" charset="0"/>
              </a:rPr>
              <a:t>I am not sleeping well</a:t>
            </a:r>
            <a:r>
              <a:rPr lang="de-DE" dirty="0">
                <a:latin typeface="Studio Pro Inflection Medium" pitchFamily="2" charset="77"/>
                <a:ea typeface="SF Pro Display" pitchFamily="2" charset="0"/>
              </a:rPr>
              <a:t>.</a:t>
            </a:r>
          </a:p>
          <a:p>
            <a:pPr algn="l">
              <a:lnSpc>
                <a:spcPts val="3800"/>
              </a:lnSpc>
              <a:defRPr sz="2600" b="0">
                <a:solidFill>
                  <a:srgbClr val="FFFFFF"/>
                </a:solidFill>
                <a:latin typeface="Calibri"/>
              </a:defRPr>
            </a:pPr>
            <a:r>
              <a:rPr lang="de-DE" dirty="0">
                <a:latin typeface="Studio Pro Inflection Medium" pitchFamily="2" charset="77"/>
                <a:ea typeface="SF Pro Display" pitchFamily="2" charset="0"/>
              </a:rPr>
              <a:t>I am in </a:t>
            </a:r>
            <a:r>
              <a:rPr lang="de-DE" dirty="0" err="1">
                <a:latin typeface="Studio Pro Inflection Medium" pitchFamily="2" charset="77"/>
                <a:ea typeface="SF Pro Display" pitchFamily="2" charset="0"/>
              </a:rPr>
              <a:t>survival</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mode</a:t>
            </a:r>
            <a:r>
              <a:rPr lang="de-DE" dirty="0">
                <a:latin typeface="Studio Pro Inflection Medium" pitchFamily="2" charset="77"/>
                <a:ea typeface="SF Pro Display" pitchFamily="2" charset="0"/>
              </a:rPr>
              <a:t>.</a:t>
            </a:r>
            <a:endParaRPr dirty="0">
              <a:latin typeface="Studio Pro Inflection Medium" pitchFamily="2" charset="77"/>
              <a:ea typeface="SF Pro Display" pitchFamily="2" charset="0"/>
            </a:endParaRPr>
          </a:p>
        </p:txBody>
      </p:sp>
      <p:sp>
        <p:nvSpPr>
          <p:cNvPr id="5" name="TextBox 4"/>
          <p:cNvSpPr txBox="1"/>
          <p:nvPr/>
        </p:nvSpPr>
        <p:spPr>
          <a:xfrm>
            <a:off x="640080" y="4137316"/>
            <a:ext cx="4754880" cy="1591782"/>
          </a:xfrm>
          <a:prstGeom prst="rect">
            <a:avLst/>
          </a:prstGeom>
          <a:noFill/>
        </p:spPr>
        <p:txBody>
          <a:bodyPr wrap="square">
            <a:spAutoFit/>
          </a:bodyPr>
          <a:lstStyle/>
          <a:p>
            <a:pPr algn="l">
              <a:lnSpc>
                <a:spcPts val="2400"/>
              </a:lnSpc>
              <a:defRPr sz="1500" b="0">
                <a:solidFill>
                  <a:srgbClr val="808080"/>
                </a:solidFill>
                <a:latin typeface="Calibri"/>
              </a:defRPr>
            </a:pPr>
            <a:r>
              <a:rPr lang="en-GB" sz="1500" dirty="0">
                <a:solidFill>
                  <a:srgbClr val="808080"/>
                </a:solidFill>
                <a:effectLst/>
                <a:latin typeface="Studio Pro Inflection Medium" pitchFamily="2" charset="77"/>
              </a:rPr>
              <a:t>The organisation is funded for current salaries until mid-2027. Beyond that, we will need to reduce costs, </a:t>
            </a:r>
            <a:r>
              <a:rPr lang="en-GB" sz="1500" b="1" u="sng" dirty="0">
                <a:solidFill>
                  <a:srgbClr val="808080"/>
                </a:solidFill>
                <a:effectLst/>
                <a:latin typeface="Studio Pro Inflection Medium It" pitchFamily="2" charset="77"/>
              </a:rPr>
              <a:t>assuming no Mars management fee. </a:t>
            </a:r>
            <a:r>
              <a:rPr lang="en-GB" sz="1500" dirty="0">
                <a:solidFill>
                  <a:srgbClr val="808080"/>
                </a:solidFill>
                <a:effectLst/>
                <a:latin typeface="Studio Pro Inflection Medium" pitchFamily="2" charset="77"/>
              </a:rPr>
              <a:t>The pressure is on. I share this because I believe transparency and agency are our greatest strengths.</a:t>
            </a:r>
            <a:endParaRPr dirty="0">
              <a:latin typeface="Studio Pro Inflection Medium" pitchFamily="2" charset="77"/>
              <a:ea typeface="SF Pro Display" pitchFamily="2" charset="0"/>
            </a:endParaRPr>
          </a:p>
        </p:txBody>
      </p:sp>
      <p:sp>
        <p:nvSpPr>
          <p:cNvPr id="7" name="TextBox 6"/>
          <p:cNvSpPr txBox="1"/>
          <p:nvPr/>
        </p:nvSpPr>
        <p:spPr>
          <a:xfrm>
            <a:off x="6736384" y="1645920"/>
            <a:ext cx="50292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WHAT I HAVE BEEN WRESTLING WITH</a:t>
            </a:r>
          </a:p>
        </p:txBody>
      </p:sp>
      <p:sp>
        <p:nvSpPr>
          <p:cNvPr id="8" name="TextBox 7"/>
          <p:cNvSpPr txBox="1"/>
          <p:nvPr/>
        </p:nvSpPr>
        <p:spPr>
          <a:xfrm>
            <a:off x="6736384" y="2194560"/>
            <a:ext cx="502920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existential conflation</a:t>
            </a:r>
          </a:p>
        </p:txBody>
      </p:sp>
      <p:sp>
        <p:nvSpPr>
          <p:cNvPr id="9" name="TextBox 8"/>
          <p:cNvSpPr txBox="1"/>
          <p:nvPr/>
        </p:nvSpPr>
        <p:spPr>
          <a:xfrm>
            <a:off x="6736384" y="2514600"/>
            <a:ext cx="4754880" cy="57361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When your life's work feels threatened, "this fundraise is hard" becomes "everything might fail." </a:t>
            </a:r>
            <a:r>
              <a:rPr lang="de-DE" dirty="0" err="1">
                <a:latin typeface="Studio Pro Inflection Medium" pitchFamily="2" charset="77"/>
                <a:ea typeface="SF Pro Display" pitchFamily="2" charset="0"/>
              </a:rPr>
              <a:t>We</a:t>
            </a:r>
            <a:r>
              <a:rPr lang="de-DE" dirty="0">
                <a:latin typeface="Studio Pro Inflection Medium" pitchFamily="2" charset="77"/>
                <a:ea typeface="SF Pro Display" pitchFamily="2" charset="0"/>
              </a:rPr>
              <a:t> separate </a:t>
            </a:r>
            <a:r>
              <a:rPr lang="de-DE" dirty="0" err="1">
                <a:latin typeface="Studio Pro Inflection Medium" pitchFamily="2" charset="77"/>
                <a:ea typeface="SF Pro Display" pitchFamily="2" charset="0"/>
              </a:rPr>
              <a:t>those</a:t>
            </a:r>
            <a:r>
              <a:rPr lang="de-DE" dirty="0">
                <a:latin typeface="Studio Pro Inflection Medium" pitchFamily="2" charset="77"/>
                <a:ea typeface="SF Pro Display" pitchFamily="2" charset="0"/>
              </a:rPr>
              <a:t>.</a:t>
            </a:r>
            <a:endParaRPr dirty="0">
              <a:latin typeface="Studio Pro Inflection Medium" pitchFamily="2" charset="77"/>
              <a:ea typeface="SF Pro Display" pitchFamily="2" charset="0"/>
            </a:endParaRPr>
          </a:p>
        </p:txBody>
      </p:sp>
      <p:sp>
        <p:nvSpPr>
          <p:cNvPr id="10" name="TextBox 9"/>
          <p:cNvSpPr txBox="1"/>
          <p:nvPr/>
        </p:nvSpPr>
        <p:spPr>
          <a:xfrm>
            <a:off x="6736384" y="3566160"/>
            <a:ext cx="502920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temptation to scatter</a:t>
            </a:r>
          </a:p>
        </p:txBody>
      </p:sp>
      <p:sp>
        <p:nvSpPr>
          <p:cNvPr id="11" name="TextBox 10"/>
          <p:cNvSpPr txBox="1"/>
          <p:nvPr/>
        </p:nvSpPr>
        <p:spPr>
          <a:xfrm>
            <a:off x="6736384" y="3886200"/>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lang="en-GB" sz="1300" dirty="0">
                <a:solidFill>
                  <a:srgbClr val="808080"/>
                </a:solidFill>
                <a:effectLst/>
                <a:latin typeface="Studio Pro Inflection Medium" pitchFamily="2" charset="77"/>
              </a:rPr>
              <a:t>Fear drives us toward consensus solutions—launching products, offering consulting, hedging bets. It diverts our focus.</a:t>
            </a:r>
            <a:endParaRPr dirty="0">
              <a:latin typeface="Studio Pro Inflection Medium" pitchFamily="2" charset="77"/>
              <a:ea typeface="SF Pro Display" pitchFamily="2" charset="0"/>
            </a:endParaRPr>
          </a:p>
        </p:txBody>
      </p:sp>
      <p:pic>
        <p:nvPicPr>
          <p:cNvPr id="14" name="Picture 13" descr="logo-footer-white.png"/>
          <p:cNvPicPr>
            <a:picLocks noChangeAspect="1"/>
          </p:cNvPicPr>
          <p:nvPr/>
        </p:nvPicPr>
        <p:blipFill>
          <a:blip r:embed="rId2"/>
          <a:stretch>
            <a:fillRect/>
          </a:stretch>
        </p:blipFill>
        <p:spPr>
          <a:xfrm>
            <a:off x="640080" y="6309360"/>
            <a:ext cx="1645920" cy="236601"/>
          </a:xfrm>
          <a:prstGeom prst="rect">
            <a:avLst/>
          </a:prstGeom>
        </p:spPr>
      </p:pic>
      <p:sp>
        <p:nvSpPr>
          <p:cNvPr id="15" name="TextBox 14"/>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82296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ON AGENCY</a:t>
            </a:r>
          </a:p>
        </p:txBody>
      </p:sp>
      <p:sp>
        <p:nvSpPr>
          <p:cNvPr id="3" name="TextBox 2"/>
          <p:cNvSpPr txBox="1"/>
          <p:nvPr/>
        </p:nvSpPr>
        <p:spPr>
          <a:xfrm>
            <a:off x="822960" y="1371600"/>
            <a:ext cx="9144000" cy="1383712"/>
          </a:xfrm>
          <a:prstGeom prst="rect">
            <a:avLst/>
          </a:prstGeom>
          <a:noFill/>
        </p:spPr>
        <p:txBody>
          <a:bodyPr wrap="square">
            <a:spAutoFit/>
          </a:bodyPr>
          <a:lstStyle/>
          <a:p>
            <a:pPr algn="l">
              <a:lnSpc>
                <a:spcPts val="5200"/>
              </a:lnSpc>
              <a:defRPr sz="4000" b="0">
                <a:solidFill>
                  <a:srgbClr val="000000"/>
                </a:solidFill>
                <a:latin typeface="Calibri"/>
              </a:defRPr>
            </a:pPr>
            <a:r>
              <a:rPr>
                <a:latin typeface="Studio Pro Inflection Medium" pitchFamily="2" charset="77"/>
                <a:ea typeface="SF Pro Display" pitchFamily="2" charset="0"/>
              </a:rPr>
              <a:t>We can turn things around.</a:t>
            </a:r>
            <a:br>
              <a:rPr>
                <a:latin typeface="Studio Pro Inflection Medium" pitchFamily="2" charset="77"/>
                <a:ea typeface="SF Pro Display" pitchFamily="2" charset="0"/>
              </a:rPr>
            </a:br>
            <a:r>
              <a:rPr>
                <a:latin typeface="Studio Pro Inflection Medium" pitchFamily="2" charset="77"/>
                <a:ea typeface="SF Pro Display" pitchFamily="2" charset="0"/>
              </a:rPr>
              <a:t>We thrive in adversity.</a:t>
            </a:r>
          </a:p>
        </p:txBody>
      </p:sp>
      <p:sp>
        <p:nvSpPr>
          <p:cNvPr id="5" name="TextBox 4"/>
          <p:cNvSpPr txBox="1"/>
          <p:nvPr/>
        </p:nvSpPr>
        <p:spPr>
          <a:xfrm>
            <a:off x="1203710" y="3017520"/>
            <a:ext cx="9784080" cy="230832"/>
          </a:xfrm>
          <a:prstGeom prst="rect">
            <a:avLst/>
          </a:prstGeom>
          <a:noFill/>
        </p:spPr>
        <p:txBody>
          <a:bodyPr wrap="square">
            <a:spAutoFit/>
          </a:bodyPr>
          <a:lstStyle/>
          <a:p>
            <a:pPr algn="l">
              <a:defRPr sz="900" b="1">
                <a:solidFill>
                  <a:srgbClr val="5A6B5D"/>
                </a:solidFill>
                <a:latin typeface="Calibri"/>
              </a:defRPr>
            </a:pPr>
            <a:r>
              <a:rPr dirty="0">
                <a:latin typeface="Studio Pro Inflection Medium" pitchFamily="2" charset="77"/>
              </a:rPr>
              <a:t>FROM OUR FOUNDER JOB</a:t>
            </a:r>
            <a:r>
              <a:rPr lang="de-DE" dirty="0">
                <a:latin typeface="Studio Pro Inflection Medium" pitchFamily="2" charset="77"/>
              </a:rPr>
              <a:t> in </a:t>
            </a:r>
            <a:r>
              <a:rPr lang="de-DE" dirty="0" err="1">
                <a:latin typeface="Studio Pro Inflection Medium" pitchFamily="2" charset="77"/>
              </a:rPr>
              <a:t>his</a:t>
            </a:r>
            <a:r>
              <a:rPr lang="de-DE" dirty="0">
                <a:latin typeface="Studio Pro Inflection Medium" pitchFamily="2" charset="77"/>
              </a:rPr>
              <a:t> „</a:t>
            </a:r>
            <a:r>
              <a:rPr lang="de-DE" dirty="0" err="1">
                <a:latin typeface="Studio Pro Inflection Medium" pitchFamily="2" charset="77"/>
              </a:rPr>
              <a:t>steel</a:t>
            </a:r>
            <a:r>
              <a:rPr lang="de-DE" dirty="0">
                <a:latin typeface="Studio Pro Inflection Medium" pitchFamily="2" charset="77"/>
              </a:rPr>
              <a:t>“ email</a:t>
            </a:r>
            <a:endParaRPr dirty="0">
              <a:latin typeface="Studio Pro Inflection Medium" pitchFamily="2" charset="77"/>
            </a:endParaRPr>
          </a:p>
        </p:txBody>
      </p:sp>
      <p:sp>
        <p:nvSpPr>
          <p:cNvPr id="6" name="TextBox 5"/>
          <p:cNvSpPr txBox="1"/>
          <p:nvPr/>
        </p:nvSpPr>
        <p:spPr>
          <a:xfrm>
            <a:off x="1188720" y="3383280"/>
            <a:ext cx="9784080" cy="338939"/>
          </a:xfrm>
          <a:prstGeom prst="rect">
            <a:avLst/>
          </a:prstGeom>
          <a:noFill/>
        </p:spPr>
        <p:txBody>
          <a:bodyPr wrap="square">
            <a:spAutoFit/>
          </a:bodyPr>
          <a:lstStyle/>
          <a:p>
            <a:pPr algn="l">
              <a:lnSpc>
                <a:spcPts val="2200"/>
              </a:lnSpc>
              <a:defRPr sz="1400" b="0">
                <a:solidFill>
                  <a:srgbClr val="000000"/>
                </a:solidFill>
                <a:latin typeface="Calibri"/>
              </a:defRPr>
            </a:pPr>
            <a:r>
              <a:rPr lang="de-DE" i="1" dirty="0">
                <a:latin typeface="Studio Pro Inflection Medium It" pitchFamily="2" charset="77"/>
                <a:ea typeface="SF Pro Display" pitchFamily="2" charset="0"/>
              </a:rPr>
              <a:t>(…) </a:t>
            </a:r>
            <a:r>
              <a:rPr i="1" dirty="0">
                <a:latin typeface="Studio Pro Inflection Medium It" pitchFamily="2" charset="77"/>
                <a:ea typeface="SF Pro Display" pitchFamily="2" charset="0"/>
              </a:rPr>
              <a:t>But the most important question right now is this: Who are we going to be in the face of adversity?</a:t>
            </a:r>
          </a:p>
        </p:txBody>
      </p:sp>
      <p:sp>
        <p:nvSpPr>
          <p:cNvPr id="7" name="TextBox 6"/>
          <p:cNvSpPr txBox="1"/>
          <p:nvPr/>
        </p:nvSpPr>
        <p:spPr>
          <a:xfrm>
            <a:off x="1188720" y="4015551"/>
            <a:ext cx="9784080" cy="903196"/>
          </a:xfrm>
          <a:prstGeom prst="rect">
            <a:avLst/>
          </a:prstGeom>
          <a:noFill/>
        </p:spPr>
        <p:txBody>
          <a:bodyPr wrap="square">
            <a:spAutoFit/>
          </a:bodyPr>
          <a:lstStyle/>
          <a:p>
            <a:pPr algn="l">
              <a:lnSpc>
                <a:spcPts val="2200"/>
              </a:lnSpc>
              <a:defRPr sz="1400" b="0">
                <a:solidFill>
                  <a:srgbClr val="000000"/>
                </a:solidFill>
                <a:latin typeface="Calibri"/>
              </a:defRPr>
            </a:pPr>
            <a:r>
              <a:rPr i="1" dirty="0">
                <a:latin typeface="Studio Pro Inflection Medium It" pitchFamily="2" charset="77"/>
                <a:ea typeface="SF Pro Display" pitchFamily="2" charset="0"/>
              </a:rPr>
              <a:t>For Hedy to fulfill its mission and achieve its vision, there's only one answer: we love adversity. We thrive in it. Adversity makes us stronger, sharper, and better. Like iron in a blast furnace, adversity burns away the weak points and forges steel.</a:t>
            </a:r>
          </a:p>
        </p:txBody>
      </p:sp>
      <p:sp>
        <p:nvSpPr>
          <p:cNvPr id="8" name="TextBox 7"/>
          <p:cNvSpPr txBox="1"/>
          <p:nvPr/>
        </p:nvSpPr>
        <p:spPr>
          <a:xfrm>
            <a:off x="1188720" y="5212079"/>
            <a:ext cx="9784080" cy="629596"/>
          </a:xfrm>
          <a:prstGeom prst="rect">
            <a:avLst/>
          </a:prstGeom>
          <a:noFill/>
        </p:spPr>
        <p:txBody>
          <a:bodyPr wrap="square">
            <a:spAutoFit/>
          </a:bodyPr>
          <a:lstStyle/>
          <a:p>
            <a:pPr algn="l">
              <a:lnSpc>
                <a:spcPts val="2200"/>
              </a:lnSpc>
              <a:defRPr sz="1400" b="0">
                <a:solidFill>
                  <a:srgbClr val="000000"/>
                </a:solidFill>
                <a:latin typeface="Calibri"/>
              </a:defRPr>
            </a:pPr>
            <a:r>
              <a:rPr i="1" dirty="0">
                <a:latin typeface="Studio Pro Inflection Medium It" pitchFamily="2" charset="77"/>
                <a:ea typeface="SF Pro Display" pitchFamily="2" charset="0"/>
              </a:rPr>
              <a:t>The status quo isn't good enough today. Who we were last week won't cut it anymore. Activate your inner DARKMODE. Get better this week."</a:t>
            </a:r>
          </a:p>
        </p:txBody>
      </p:sp>
      <p:pic>
        <p:nvPicPr>
          <p:cNvPr id="9" name="Picture 8"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0" name="TextBox 9"/>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A REQUEST</a:t>
            </a:r>
          </a:p>
        </p:txBody>
      </p:sp>
      <p:sp>
        <p:nvSpPr>
          <p:cNvPr id="3" name="TextBox 2"/>
          <p:cNvSpPr txBox="1"/>
          <p:nvPr/>
        </p:nvSpPr>
        <p:spPr>
          <a:xfrm>
            <a:off x="822960" y="1097280"/>
            <a:ext cx="9144000" cy="668260"/>
          </a:xfrm>
          <a:prstGeom prst="rect">
            <a:avLst/>
          </a:prstGeom>
          <a:noFill/>
        </p:spPr>
        <p:txBody>
          <a:bodyPr wrap="square">
            <a:spAutoFit/>
          </a:bodyPr>
          <a:lstStyle/>
          <a:p>
            <a:pPr algn="l">
              <a:lnSpc>
                <a:spcPts val="5000"/>
              </a:lnSpc>
              <a:defRPr sz="3800" b="0">
                <a:solidFill>
                  <a:srgbClr val="000000"/>
                </a:solidFill>
                <a:latin typeface="Calibri"/>
              </a:defRPr>
            </a:pPr>
            <a:r>
              <a:rPr lang="de-DE" dirty="0">
                <a:latin typeface="Studio Pro Inflection Medium" pitchFamily="2" charset="77"/>
                <a:ea typeface="SF Pro Display" pitchFamily="2" charset="0"/>
              </a:rPr>
              <a:t>I am </a:t>
            </a:r>
            <a:r>
              <a:rPr lang="de-DE" dirty="0" err="1">
                <a:latin typeface="Studio Pro Inflection Medium" pitchFamily="2" charset="77"/>
                <a:ea typeface="SF Pro Display" pitchFamily="2" charset="0"/>
              </a:rPr>
              <a:t>asking</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you</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for</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two</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things</a:t>
            </a:r>
            <a:endParaRPr dirty="0">
              <a:latin typeface="Studio Pro Inflection Medium" pitchFamily="2" charset="77"/>
              <a:ea typeface="SF Pro Display" pitchFamily="2" charset="0"/>
            </a:endParaRPr>
          </a:p>
        </p:txBody>
      </p:sp>
      <p:sp>
        <p:nvSpPr>
          <p:cNvPr id="5" name="TextBox 4"/>
          <p:cNvSpPr txBox="1"/>
          <p:nvPr/>
        </p:nvSpPr>
        <p:spPr>
          <a:xfrm>
            <a:off x="1097280" y="2788920"/>
            <a:ext cx="4663440" cy="353943"/>
          </a:xfrm>
          <a:prstGeom prst="rect">
            <a:avLst/>
          </a:prstGeom>
          <a:noFill/>
        </p:spPr>
        <p:txBody>
          <a:bodyPr wrap="square">
            <a:spAutoFit/>
          </a:bodyPr>
          <a:lstStyle/>
          <a:p>
            <a:pPr algn="l">
              <a:defRPr sz="1700" b="1">
                <a:solidFill>
                  <a:srgbClr val="000000"/>
                </a:solidFill>
                <a:latin typeface="Calibri"/>
              </a:defRPr>
            </a:pPr>
            <a:r>
              <a:rPr dirty="0">
                <a:latin typeface="Studio Pro Inflection Medium" pitchFamily="2" charset="77"/>
                <a:ea typeface="SF Pro Display" pitchFamily="2" charset="0"/>
              </a:rPr>
              <a:t>Help manufacture catalysts</a:t>
            </a:r>
          </a:p>
        </p:txBody>
      </p:sp>
      <p:sp>
        <p:nvSpPr>
          <p:cNvPr id="6" name="TextBox 5"/>
          <p:cNvSpPr txBox="1"/>
          <p:nvPr/>
        </p:nvSpPr>
        <p:spPr>
          <a:xfrm>
            <a:off x="1097280" y="3246120"/>
            <a:ext cx="4663440" cy="1371600"/>
          </a:xfrm>
          <a:prstGeom prst="rect">
            <a:avLst/>
          </a:prstGeom>
          <a:noFill/>
        </p:spPr>
        <p:txBody>
          <a:bodyPr wrap="square">
            <a:spAutoFit/>
          </a:bodyPr>
          <a:lstStyle/>
          <a:p>
            <a:pPr>
              <a:lnSpc>
                <a:spcPts val="2000"/>
              </a:lnSpc>
            </a:pPr>
            <a:r>
              <a:rPr sz="1300" b="1" dirty="0">
                <a:solidFill>
                  <a:srgbClr val="000000"/>
                </a:solidFill>
                <a:latin typeface="Studio Pro Inflection Medium It" pitchFamily="2" charset="77"/>
                <a:ea typeface="SF Pro Display" pitchFamily="2" charset="0"/>
              </a:rPr>
              <a:t>Mercury: </a:t>
            </a:r>
            <a:r>
              <a:rPr sz="1300" dirty="0">
                <a:solidFill>
                  <a:srgbClr val="808080"/>
                </a:solidFill>
                <a:latin typeface="Studio Pro Inflection Medium" pitchFamily="2" charset="77"/>
                <a:ea typeface="SF Pro Display" pitchFamily="2" charset="0"/>
              </a:rPr>
              <a:t>We need 2-3 portfolio companies to hit visible milestones in the next 90 days. Term sheets, contracts, partnerships. This changes the fundraising narrative from "wait and see" to "momentum is building." Your relationships and support matter here.</a:t>
            </a:r>
          </a:p>
        </p:txBody>
      </p:sp>
      <p:sp>
        <p:nvSpPr>
          <p:cNvPr id="7" name="TextBox 6"/>
          <p:cNvSpPr txBox="1"/>
          <p:nvPr/>
        </p:nvSpPr>
        <p:spPr>
          <a:xfrm>
            <a:off x="1097280" y="4663440"/>
            <a:ext cx="4663440" cy="581634"/>
          </a:xfrm>
          <a:prstGeom prst="rect">
            <a:avLst/>
          </a:prstGeom>
          <a:noFill/>
        </p:spPr>
        <p:txBody>
          <a:bodyPr wrap="square">
            <a:spAutoFit/>
          </a:bodyPr>
          <a:lstStyle/>
          <a:p>
            <a:pPr>
              <a:lnSpc>
                <a:spcPts val="2000"/>
              </a:lnSpc>
            </a:pPr>
            <a:r>
              <a:rPr sz="1300" b="1">
                <a:solidFill>
                  <a:srgbClr val="000000"/>
                </a:solidFill>
                <a:latin typeface="Studio Pro Inflection Medium It" pitchFamily="2" charset="77"/>
                <a:ea typeface="SF Pro Display" pitchFamily="2" charset="0"/>
              </a:rPr>
              <a:t>Mars: </a:t>
            </a:r>
            <a:r>
              <a:rPr sz="1300">
                <a:solidFill>
                  <a:srgbClr val="808080"/>
                </a:solidFill>
                <a:latin typeface="Studio Pro Inflection Medium" pitchFamily="2" charset="77"/>
                <a:ea typeface="SF Pro Display" pitchFamily="2" charset="0"/>
              </a:rPr>
              <a:t>We need to do 1-2 bold earliest stage investments at $1M each to build momentum with the Mars Fund.</a:t>
            </a:r>
          </a:p>
        </p:txBody>
      </p:sp>
      <p:sp>
        <p:nvSpPr>
          <p:cNvPr id="9" name="TextBox 8"/>
          <p:cNvSpPr txBox="1"/>
          <p:nvPr/>
        </p:nvSpPr>
        <p:spPr>
          <a:xfrm>
            <a:off x="6583680" y="2788920"/>
            <a:ext cx="466344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Protect your energy</a:t>
            </a:r>
          </a:p>
        </p:txBody>
      </p:sp>
      <p:sp>
        <p:nvSpPr>
          <p:cNvPr id="10" name="TextBox 9"/>
          <p:cNvSpPr txBox="1"/>
          <p:nvPr/>
        </p:nvSpPr>
        <p:spPr>
          <a:xfrm>
            <a:off x="6583680" y="3246120"/>
            <a:ext cx="4663440" cy="109459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We are a small team carrying a big mission. The next 12 months will not be easy. No side projects. No non-portfolio SPVs. No hedging through alternative revenues. No distractions. We give this a 100% shot.</a:t>
            </a:r>
          </a:p>
        </p:txBody>
      </p:sp>
      <p:pic>
        <p:nvPicPr>
          <p:cNvPr id="11" name="Picture 10"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2" name="TextBox 11"/>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3BCB5"/>
        </a:solidFill>
        <a:effectLst/>
      </p:bgPr>
    </p:bg>
    <p:spTree>
      <p:nvGrpSpPr>
        <p:cNvPr id="1" name=""/>
        <p:cNvGrpSpPr/>
        <p:nvPr/>
      </p:nvGrpSpPr>
      <p:grpSpPr>
        <a:xfrm>
          <a:off x="0" y="0"/>
          <a:ext cx="0" cy="0"/>
          <a:chOff x="0" y="0"/>
          <a:chExt cx="0" cy="0"/>
        </a:xfrm>
      </p:grpSpPr>
      <p:sp>
        <p:nvSpPr>
          <p:cNvPr id="2" name="TextBox 1"/>
          <p:cNvSpPr txBox="1"/>
          <p:nvPr/>
        </p:nvSpPr>
        <p:spPr>
          <a:xfrm>
            <a:off x="640080" y="854537"/>
            <a:ext cx="9144000" cy="246221"/>
          </a:xfrm>
          <a:prstGeom prst="rect">
            <a:avLst/>
          </a:prstGeom>
          <a:noFill/>
        </p:spPr>
        <p:txBody>
          <a:bodyPr wrap="square">
            <a:spAutoFit/>
          </a:bodyPr>
          <a:lstStyle/>
          <a:p>
            <a:pPr>
              <a:defRPr sz="1000" b="1">
                <a:solidFill>
                  <a:srgbClr val="000000"/>
                </a:solidFill>
                <a:latin typeface="Calibri"/>
              </a:defRPr>
            </a:pPr>
            <a:r>
              <a:rPr>
                <a:latin typeface="SF Pro Display" pitchFamily="2" charset="0"/>
                <a:ea typeface="SF Pro Display" pitchFamily="2" charset="0"/>
              </a:rPr>
              <a:t>HONEY BADGER MINDSET</a:t>
            </a:r>
          </a:p>
        </p:txBody>
      </p:sp>
      <p:sp>
        <p:nvSpPr>
          <p:cNvPr id="3" name="TextBox 2"/>
          <p:cNvSpPr txBox="1"/>
          <p:nvPr/>
        </p:nvSpPr>
        <p:spPr>
          <a:xfrm>
            <a:off x="640080" y="1445679"/>
            <a:ext cx="7154805" cy="1179297"/>
          </a:xfrm>
          <a:prstGeom prst="rect">
            <a:avLst/>
          </a:prstGeom>
          <a:noFill/>
        </p:spPr>
        <p:txBody>
          <a:bodyPr wrap="square">
            <a:spAutoFit/>
          </a:bodyPr>
          <a:lstStyle/>
          <a:p>
            <a:pPr>
              <a:lnSpc>
                <a:spcPts val="4400"/>
              </a:lnSpc>
              <a:defRPr sz="3200" b="0">
                <a:solidFill>
                  <a:srgbClr val="000000"/>
                </a:solidFill>
                <a:latin typeface="Calibri"/>
              </a:defRPr>
            </a:pPr>
            <a:r>
              <a:rPr dirty="0">
                <a:latin typeface="Studio Pro Inflection Medium" pitchFamily="2" charset="77"/>
                <a:ea typeface="SF Pro Display" pitchFamily="2" charset="0"/>
              </a:rPr>
              <a:t>Fear whispers:</a:t>
            </a:r>
            <a:br>
              <a:rPr dirty="0">
                <a:latin typeface="Studio Pro Inflection Medium" pitchFamily="2" charset="77"/>
                <a:ea typeface="SF Pro Display" pitchFamily="2" charset="0"/>
              </a:rPr>
            </a:br>
            <a:r>
              <a:rPr dirty="0">
                <a:latin typeface="Studio Pro Inflection Medium" pitchFamily="2" charset="77"/>
                <a:ea typeface="SF Pro Display" pitchFamily="2" charset="0"/>
              </a:rPr>
              <a:t>"Pivot to safety. Diversify. </a:t>
            </a:r>
            <a:r>
              <a:rPr dirty="0" err="1">
                <a:latin typeface="Studio Pro Inflection Medium" pitchFamily="2" charset="77"/>
                <a:ea typeface="SF Pro Display" pitchFamily="2" charset="0"/>
              </a:rPr>
              <a:t>Hedg</a:t>
            </a:r>
            <a:r>
              <a:rPr lang="de-DE" dirty="0" err="1">
                <a:latin typeface="Studio Pro Inflection Medium" pitchFamily="2" charset="77"/>
                <a:ea typeface="SF Pro Display" pitchFamily="2" charset="0"/>
              </a:rPr>
              <a:t>e</a:t>
            </a:r>
            <a:r>
              <a:rPr dirty="0">
                <a:latin typeface="Studio Pro Inflection Medium" pitchFamily="2" charset="77"/>
                <a:ea typeface="SF Pro Display" pitchFamily="2" charset="0"/>
              </a:rPr>
              <a:t>."</a:t>
            </a:r>
          </a:p>
        </p:txBody>
      </p:sp>
      <p:sp>
        <p:nvSpPr>
          <p:cNvPr id="4" name="TextBox 3"/>
          <p:cNvSpPr txBox="1"/>
          <p:nvPr/>
        </p:nvSpPr>
        <p:spPr>
          <a:xfrm>
            <a:off x="640080" y="2725839"/>
            <a:ext cx="7154805" cy="1724062"/>
          </a:xfrm>
          <a:prstGeom prst="rect">
            <a:avLst/>
          </a:prstGeom>
          <a:noFill/>
        </p:spPr>
        <p:txBody>
          <a:bodyPr wrap="square">
            <a:spAutoFit/>
          </a:bodyPr>
          <a:lstStyle/>
          <a:p>
            <a:pPr>
              <a:lnSpc>
                <a:spcPts val="4400"/>
              </a:lnSpc>
              <a:defRPr sz="3200" b="1">
                <a:solidFill>
                  <a:srgbClr val="000000"/>
                </a:solidFill>
                <a:latin typeface="Calibri"/>
              </a:defRPr>
            </a:pPr>
            <a:r>
              <a:rPr dirty="0">
                <a:latin typeface="Studio Pro Inflection Medium" pitchFamily="2" charset="77"/>
                <a:ea typeface="SF Pro Display" pitchFamily="2" charset="0"/>
              </a:rPr>
              <a:t>That is what corporates would do.</a:t>
            </a:r>
            <a:br>
              <a:rPr dirty="0">
                <a:latin typeface="Studio Pro Inflection Medium" pitchFamily="2" charset="77"/>
                <a:ea typeface="SF Pro Display" pitchFamily="2" charset="0"/>
              </a:rPr>
            </a:br>
            <a:r>
              <a:rPr dirty="0">
                <a:latin typeface="Studio Pro Inflection Medium" pitchFamily="2" charset="77"/>
                <a:ea typeface="SF Pro Display" pitchFamily="2" charset="0"/>
              </a:rPr>
              <a:t>We all left them to build</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something</a:t>
            </a:r>
            <a:r>
              <a:rPr lang="de-DE" dirty="0">
                <a:latin typeface="Studio Pro Inflection Medium" pitchFamily="2" charset="77"/>
                <a:ea typeface="SF Pro Display" pitchFamily="2" charset="0"/>
              </a:rPr>
              <a:t> </a:t>
            </a:r>
            <a:r>
              <a:rPr dirty="0">
                <a:latin typeface="Studio Pro Inflection Medium" pitchFamily="2" charset="77"/>
                <a:ea typeface="SF Pro Display" pitchFamily="2" charset="0"/>
              </a:rPr>
              <a:t>meaningful.</a:t>
            </a:r>
          </a:p>
        </p:txBody>
      </p:sp>
      <p:sp>
        <p:nvSpPr>
          <p:cNvPr id="5" name="TextBox 4"/>
          <p:cNvSpPr txBox="1"/>
          <p:nvPr/>
        </p:nvSpPr>
        <p:spPr>
          <a:xfrm>
            <a:off x="640080" y="4570256"/>
            <a:ext cx="7154805" cy="1049262"/>
          </a:xfrm>
          <a:prstGeom prst="rect">
            <a:avLst/>
          </a:prstGeom>
          <a:noFill/>
        </p:spPr>
        <p:txBody>
          <a:bodyPr wrap="square">
            <a:spAutoFit/>
          </a:bodyPr>
          <a:lstStyle/>
          <a:p>
            <a:pPr>
              <a:lnSpc>
                <a:spcPts val="2600"/>
              </a:lnSpc>
              <a:defRPr sz="1600" b="0">
                <a:solidFill>
                  <a:srgbClr val="000000"/>
                </a:solidFill>
                <a:latin typeface="Calibri"/>
              </a:defRPr>
            </a:pPr>
            <a:r>
              <a:rPr dirty="0">
                <a:latin typeface="Studio Pro Inflection Medium" pitchFamily="2" charset="77"/>
                <a:ea typeface="SF Pro Display" pitchFamily="2" charset="0"/>
              </a:rPr>
              <a:t>The honey badger move is to attack. Double down on who we are, fix the packaging, manufacture the catalysts, and let the market validate what we already know about our portfolio.</a:t>
            </a:r>
          </a:p>
        </p:txBody>
      </p:sp>
      <p:pic>
        <p:nvPicPr>
          <p:cNvPr id="6" name="Picture 5"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7" name="TextBox 6"/>
          <p:cNvSpPr txBox="1"/>
          <p:nvPr/>
        </p:nvSpPr>
        <p:spPr>
          <a:xfrm>
            <a:off x="11094415" y="6355080"/>
            <a:ext cx="731520" cy="274320"/>
          </a:xfrm>
          <a:prstGeom prst="rect">
            <a:avLst/>
          </a:prstGeom>
          <a:noFill/>
        </p:spPr>
        <p:txBody>
          <a:bodyPr wrap="square">
            <a:spAutoFit/>
          </a:bodyPr>
          <a:lstStyle/>
          <a:p>
            <a:pPr algn="r">
              <a:defRPr sz="1000" b="0">
                <a:solidFill>
                  <a:srgbClr val="5A6B5D"/>
                </a:solidFill>
                <a:latin typeface="Calibri"/>
              </a:defRPr>
            </a:pPr>
            <a:r>
              <a:t>10</a:t>
            </a:r>
          </a:p>
        </p:txBody>
      </p:sp>
      <p:pic>
        <p:nvPicPr>
          <p:cNvPr id="9" name="Picture 8" descr="An animal on a log&#10;&#10;AI-generated content may be incorrect.">
            <a:extLst>
              <a:ext uri="{FF2B5EF4-FFF2-40B4-BE49-F238E27FC236}">
                <a16:creationId xmlns:a16="http://schemas.microsoft.com/office/drawing/2014/main" id="{75C8AB5D-003F-4F82-512F-FCE235EC9A1F}"/>
              </a:ext>
            </a:extLst>
          </p:cNvPr>
          <p:cNvPicPr>
            <a:picLocks noChangeAspect="1"/>
          </p:cNvPicPr>
          <p:nvPr/>
        </p:nvPicPr>
        <p:blipFill>
          <a:blip r:embed="rId3"/>
          <a:stretch>
            <a:fillRect/>
          </a:stretch>
        </p:blipFill>
        <p:spPr>
          <a:xfrm>
            <a:off x="8113064" y="1445679"/>
            <a:ext cx="3438856" cy="42218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43362-7144-5086-D594-97D0D78F97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8FB25B-8A9D-8F97-D3BF-9BBC68A827B3}"/>
              </a:ext>
            </a:extLst>
          </p:cNvPr>
          <p:cNvSpPr txBox="1"/>
          <p:nvPr/>
        </p:nvSpPr>
        <p:spPr>
          <a:xfrm>
            <a:off x="822960" y="82296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ON AGENCY</a:t>
            </a:r>
          </a:p>
        </p:txBody>
      </p:sp>
      <p:sp>
        <p:nvSpPr>
          <p:cNvPr id="3" name="TextBox 2">
            <a:extLst>
              <a:ext uri="{FF2B5EF4-FFF2-40B4-BE49-F238E27FC236}">
                <a16:creationId xmlns:a16="http://schemas.microsoft.com/office/drawing/2014/main" id="{DCB2BD9F-2CC5-1897-645F-973BC38E6723}"/>
              </a:ext>
            </a:extLst>
          </p:cNvPr>
          <p:cNvSpPr txBox="1"/>
          <p:nvPr/>
        </p:nvSpPr>
        <p:spPr>
          <a:xfrm>
            <a:off x="822960" y="1371600"/>
            <a:ext cx="9144000" cy="692497"/>
          </a:xfrm>
          <a:prstGeom prst="rect">
            <a:avLst/>
          </a:prstGeom>
          <a:noFill/>
        </p:spPr>
        <p:txBody>
          <a:bodyPr wrap="square">
            <a:spAutoFit/>
          </a:bodyPr>
          <a:lstStyle/>
          <a:p>
            <a:pPr algn="l">
              <a:lnSpc>
                <a:spcPts val="5200"/>
              </a:lnSpc>
              <a:defRPr sz="4000" b="0">
                <a:solidFill>
                  <a:srgbClr val="000000"/>
                </a:solidFill>
                <a:latin typeface="Calibri"/>
              </a:defRPr>
            </a:pPr>
            <a:r>
              <a:rPr lang="de-DE" dirty="0" err="1">
                <a:latin typeface="Studio Pro Inflection Medium" pitchFamily="2" charset="77"/>
                <a:ea typeface="SF Pro Display" pitchFamily="2" charset="0"/>
              </a:rPr>
              <a:t>Convexity</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is</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our</a:t>
            </a:r>
            <a:r>
              <a:rPr lang="de-DE" dirty="0">
                <a:latin typeface="Studio Pro Inflection Medium" pitchFamily="2" charset="77"/>
                <a:ea typeface="SF Pro Display" pitchFamily="2" charset="0"/>
              </a:rPr>
              <a:t> friend</a:t>
            </a:r>
            <a:endParaRPr dirty="0">
              <a:latin typeface="Studio Pro Inflection Medium" pitchFamily="2" charset="77"/>
              <a:ea typeface="SF Pro Display" pitchFamily="2" charset="0"/>
            </a:endParaRPr>
          </a:p>
        </p:txBody>
      </p:sp>
      <p:pic>
        <p:nvPicPr>
          <p:cNvPr id="9" name="Picture 8" descr="logo-footer-black.png">
            <a:extLst>
              <a:ext uri="{FF2B5EF4-FFF2-40B4-BE49-F238E27FC236}">
                <a16:creationId xmlns:a16="http://schemas.microsoft.com/office/drawing/2014/main" id="{4DE9C1B1-2FDF-94DE-D380-9C1985D2BD41}"/>
              </a:ext>
            </a:extLst>
          </p:cNvPr>
          <p:cNvPicPr>
            <a:picLocks noChangeAspect="1"/>
          </p:cNvPicPr>
          <p:nvPr/>
        </p:nvPicPr>
        <p:blipFill>
          <a:blip r:embed="rId2"/>
          <a:stretch>
            <a:fillRect/>
          </a:stretch>
        </p:blipFill>
        <p:spPr>
          <a:xfrm>
            <a:off x="640080" y="6309360"/>
            <a:ext cx="1645920" cy="236601"/>
          </a:xfrm>
          <a:prstGeom prst="rect">
            <a:avLst/>
          </a:prstGeom>
        </p:spPr>
      </p:pic>
      <p:sp>
        <p:nvSpPr>
          <p:cNvPr id="10" name="TextBox 9">
            <a:extLst>
              <a:ext uri="{FF2B5EF4-FFF2-40B4-BE49-F238E27FC236}">
                <a16:creationId xmlns:a16="http://schemas.microsoft.com/office/drawing/2014/main" id="{DE38CE80-4EF0-DA44-FAFC-3CABAA0D6161}"/>
              </a:ext>
            </a:extLst>
          </p:cNvPr>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06</a:t>
            </a:r>
          </a:p>
        </p:txBody>
      </p:sp>
      <p:sp>
        <p:nvSpPr>
          <p:cNvPr id="4" name="TextBox 3">
            <a:extLst>
              <a:ext uri="{FF2B5EF4-FFF2-40B4-BE49-F238E27FC236}">
                <a16:creationId xmlns:a16="http://schemas.microsoft.com/office/drawing/2014/main" id="{41D10E8A-4C7C-9ACE-F50B-C1FBDFDAA657}"/>
              </a:ext>
            </a:extLst>
          </p:cNvPr>
          <p:cNvSpPr txBox="1"/>
          <p:nvPr/>
        </p:nvSpPr>
        <p:spPr>
          <a:xfrm>
            <a:off x="1097280" y="2788920"/>
            <a:ext cx="4663440" cy="353943"/>
          </a:xfrm>
          <a:prstGeom prst="rect">
            <a:avLst/>
          </a:prstGeom>
          <a:noFill/>
        </p:spPr>
        <p:txBody>
          <a:bodyPr wrap="square">
            <a:spAutoFit/>
          </a:bodyPr>
          <a:lstStyle/>
          <a:p>
            <a:pPr algn="l">
              <a:defRPr sz="1700" b="1">
                <a:solidFill>
                  <a:srgbClr val="000000"/>
                </a:solidFill>
                <a:latin typeface="Calibri"/>
              </a:defRPr>
            </a:pPr>
            <a:r>
              <a:rPr lang="de-DE" dirty="0" err="1">
                <a:latin typeface="Studio Pro Inflection Medium" pitchFamily="2" charset="77"/>
                <a:ea typeface="SF Pro Display" pitchFamily="2" charset="0"/>
              </a:rPr>
              <a:t>Surprises</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lie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behind</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every</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investment</a:t>
            </a:r>
            <a:endParaRPr dirty="0">
              <a:latin typeface="Studio Pro Inflection Medium" pitchFamily="2" charset="77"/>
              <a:ea typeface="SF Pro Display" pitchFamily="2" charset="0"/>
            </a:endParaRPr>
          </a:p>
        </p:txBody>
      </p:sp>
      <p:sp>
        <p:nvSpPr>
          <p:cNvPr id="11" name="TextBox 10">
            <a:extLst>
              <a:ext uri="{FF2B5EF4-FFF2-40B4-BE49-F238E27FC236}">
                <a16:creationId xmlns:a16="http://schemas.microsoft.com/office/drawing/2014/main" id="{EF2B8616-9440-D75C-73CD-097C40F3FAF1}"/>
              </a:ext>
            </a:extLst>
          </p:cNvPr>
          <p:cNvSpPr txBox="1"/>
          <p:nvPr/>
        </p:nvSpPr>
        <p:spPr>
          <a:xfrm>
            <a:off x="1097280" y="3246120"/>
            <a:ext cx="4663440" cy="1856021"/>
          </a:xfrm>
          <a:prstGeom prst="rect">
            <a:avLst/>
          </a:prstGeom>
          <a:noFill/>
        </p:spPr>
        <p:txBody>
          <a:bodyPr wrap="square">
            <a:spAutoFit/>
          </a:bodyPr>
          <a:lstStyle/>
          <a:p>
            <a:pPr>
              <a:lnSpc>
                <a:spcPts val="2000"/>
              </a:lnSpc>
            </a:pPr>
            <a:r>
              <a:rPr lang="de-DE" sz="1300" dirty="0" err="1">
                <a:solidFill>
                  <a:srgbClr val="808080"/>
                </a:solidFill>
                <a:latin typeface="Studio Pro Inflection Medium" pitchFamily="2" charset="77"/>
                <a:ea typeface="SF Pro Display" pitchFamily="2" charset="0"/>
              </a:rPr>
              <a:t>We‘ve</a:t>
            </a:r>
            <a:r>
              <a:rPr lang="de-DE" sz="1300" dirty="0">
                <a:solidFill>
                  <a:srgbClr val="808080"/>
                </a:solidFill>
                <a:latin typeface="Studio Pro Inflection Medium" pitchFamily="2" charset="77"/>
                <a:ea typeface="SF Pro Display" pitchFamily="2" charset="0"/>
              </a:rPr>
              <a:t> </a:t>
            </a:r>
            <a:r>
              <a:rPr lang="de-DE" sz="1300" dirty="0" err="1">
                <a:solidFill>
                  <a:srgbClr val="808080"/>
                </a:solidFill>
                <a:latin typeface="Studio Pro Inflection Medium" pitchFamily="2" charset="77"/>
                <a:ea typeface="SF Pro Display" pitchFamily="2" charset="0"/>
              </a:rPr>
              <a:t>seen</a:t>
            </a:r>
            <a:r>
              <a:rPr lang="de-DE" sz="1300" dirty="0">
                <a:solidFill>
                  <a:srgbClr val="808080"/>
                </a:solidFill>
                <a:latin typeface="Studio Pro Inflection Medium" pitchFamily="2" charset="77"/>
                <a:ea typeface="SF Pro Display" pitchFamily="2" charset="0"/>
              </a:rPr>
              <a:t> </a:t>
            </a:r>
            <a:r>
              <a:rPr lang="de-DE" sz="1300" dirty="0" err="1">
                <a:solidFill>
                  <a:srgbClr val="808080"/>
                </a:solidFill>
                <a:latin typeface="Studio Pro Inflection Medium" pitchFamily="2" charset="77"/>
                <a:ea typeface="SF Pro Display" pitchFamily="2" charset="0"/>
              </a:rPr>
              <a:t>this</a:t>
            </a:r>
            <a:r>
              <a:rPr lang="de-DE" sz="1300" dirty="0">
                <a:solidFill>
                  <a:srgbClr val="808080"/>
                </a:solidFill>
                <a:latin typeface="Studio Pro Inflection Medium" pitchFamily="2" charset="77"/>
                <a:ea typeface="SF Pro Display" pitchFamily="2" charset="0"/>
              </a:rPr>
              <a:t> </a:t>
            </a:r>
            <a:r>
              <a:rPr lang="de-DE" sz="1300" dirty="0" err="1">
                <a:solidFill>
                  <a:srgbClr val="808080"/>
                </a:solidFill>
                <a:latin typeface="Studio Pro Inflection Medium" pitchFamily="2" charset="77"/>
                <a:ea typeface="SF Pro Display" pitchFamily="2" charset="0"/>
              </a:rPr>
              <a:t>before</a:t>
            </a:r>
            <a:r>
              <a:rPr lang="de-DE" sz="1300" dirty="0">
                <a:solidFill>
                  <a:srgbClr val="808080"/>
                </a:solidFill>
                <a:latin typeface="Studio Pro Inflection Medium" pitchFamily="2" charset="77"/>
                <a:ea typeface="SF Pro Display" pitchFamily="2" charset="0"/>
              </a:rPr>
              <a:t>. </a:t>
            </a:r>
          </a:p>
          <a:p>
            <a:pPr>
              <a:lnSpc>
                <a:spcPts val="2000"/>
              </a:lnSpc>
            </a:pPr>
            <a:endParaRPr lang="de-DE" sz="1300" dirty="0">
              <a:solidFill>
                <a:srgbClr val="808080"/>
              </a:solidFill>
              <a:latin typeface="Studio Pro Inflection Medium" pitchFamily="2" charset="77"/>
              <a:ea typeface="SF Pro Display" pitchFamily="2" charset="0"/>
            </a:endParaRPr>
          </a:p>
          <a:p>
            <a:pPr>
              <a:lnSpc>
                <a:spcPts val="2000"/>
              </a:lnSpc>
            </a:pPr>
            <a:r>
              <a:rPr lang="de-DE" sz="1300" dirty="0">
                <a:solidFill>
                  <a:srgbClr val="808080"/>
                </a:solidFill>
                <a:latin typeface="Studio Pro Inflection Medium" pitchFamily="2" charset="77"/>
                <a:ea typeface="SF Pro Display" pitchFamily="2" charset="0"/>
              </a:rPr>
              <a:t>Bitcoin 20x,  ETH 10x, Balancer 100x, ANY 10x </a:t>
            </a:r>
          </a:p>
          <a:p>
            <a:pPr>
              <a:lnSpc>
                <a:spcPts val="2000"/>
              </a:lnSpc>
            </a:pPr>
            <a:r>
              <a:rPr lang="de-DE" sz="1300" dirty="0" err="1">
                <a:solidFill>
                  <a:srgbClr val="808080"/>
                </a:solidFill>
                <a:latin typeface="Studio Pro Inflection Medium" pitchFamily="2" charset="77"/>
                <a:ea typeface="SF Pro Display" pitchFamily="2" charset="0"/>
              </a:rPr>
              <a:t>Privy</a:t>
            </a:r>
            <a:r>
              <a:rPr lang="de-DE" sz="1300" dirty="0">
                <a:solidFill>
                  <a:srgbClr val="808080"/>
                </a:solidFill>
                <a:latin typeface="Studio Pro Inflection Medium" pitchFamily="2" charset="77"/>
                <a:ea typeface="SF Pro Display" pitchFamily="2" charset="0"/>
              </a:rPr>
              <a:t> – 8x DPI </a:t>
            </a:r>
          </a:p>
          <a:p>
            <a:pPr>
              <a:lnSpc>
                <a:spcPts val="2000"/>
              </a:lnSpc>
            </a:pPr>
            <a:r>
              <a:rPr lang="de-DE" sz="1300" dirty="0" err="1">
                <a:solidFill>
                  <a:srgbClr val="808080"/>
                </a:solidFill>
                <a:latin typeface="Studio Pro Inflection Medium" pitchFamily="2" charset="77"/>
                <a:ea typeface="SF Pro Display" pitchFamily="2" charset="0"/>
              </a:rPr>
              <a:t>Starcloud</a:t>
            </a:r>
            <a:r>
              <a:rPr lang="de-DE" sz="1300" dirty="0">
                <a:solidFill>
                  <a:srgbClr val="808080"/>
                </a:solidFill>
                <a:latin typeface="Studio Pro Inflection Medium" pitchFamily="2" charset="77"/>
                <a:ea typeface="SF Pro Display" pitchFamily="2" charset="0"/>
              </a:rPr>
              <a:t> – 70x MOIC </a:t>
            </a:r>
          </a:p>
          <a:p>
            <a:pPr>
              <a:lnSpc>
                <a:spcPts val="2000"/>
              </a:lnSpc>
            </a:pPr>
            <a:endParaRPr lang="de-DE" sz="1300" dirty="0">
              <a:solidFill>
                <a:srgbClr val="808080"/>
              </a:solidFill>
              <a:latin typeface="Studio Pro Inflection Medium" pitchFamily="2" charset="77"/>
              <a:ea typeface="SF Pro Display" pitchFamily="2" charset="0"/>
            </a:endParaRPr>
          </a:p>
          <a:p>
            <a:pPr>
              <a:lnSpc>
                <a:spcPts val="2000"/>
              </a:lnSpc>
            </a:pPr>
            <a:r>
              <a:rPr lang="de-DE" sz="1300" dirty="0" err="1">
                <a:solidFill>
                  <a:srgbClr val="808080"/>
                </a:solidFill>
                <a:latin typeface="Studio Pro Inflection Medium" pitchFamily="2" charset="77"/>
                <a:ea typeface="SF Pro Display" pitchFamily="2" charset="0"/>
              </a:rPr>
              <a:t>It</a:t>
            </a:r>
            <a:r>
              <a:rPr lang="de-DE" sz="1300" dirty="0">
                <a:solidFill>
                  <a:srgbClr val="808080"/>
                </a:solidFill>
                <a:latin typeface="Studio Pro Inflection Medium" pitchFamily="2" charset="77"/>
                <a:ea typeface="SF Pro Display" pitchFamily="2" charset="0"/>
              </a:rPr>
              <a:t> </a:t>
            </a:r>
            <a:r>
              <a:rPr lang="de-DE" sz="1300" dirty="0" err="1">
                <a:solidFill>
                  <a:srgbClr val="808080"/>
                </a:solidFill>
                <a:latin typeface="Studio Pro Inflection Medium" pitchFamily="2" charset="77"/>
                <a:ea typeface="SF Pro Display" pitchFamily="2" charset="0"/>
              </a:rPr>
              <a:t>can</a:t>
            </a:r>
            <a:r>
              <a:rPr lang="de-DE" sz="1300" dirty="0">
                <a:solidFill>
                  <a:srgbClr val="808080"/>
                </a:solidFill>
                <a:latin typeface="Studio Pro Inflection Medium" pitchFamily="2" charset="77"/>
                <a:ea typeface="SF Pro Display" pitchFamily="2" charset="0"/>
              </a:rPr>
              <a:t> + will happen </a:t>
            </a:r>
            <a:r>
              <a:rPr lang="de-DE" sz="1300" dirty="0" err="1">
                <a:solidFill>
                  <a:srgbClr val="808080"/>
                </a:solidFill>
                <a:latin typeface="Studio Pro Inflection Medium" pitchFamily="2" charset="77"/>
                <a:ea typeface="SF Pro Display" pitchFamily="2" charset="0"/>
              </a:rPr>
              <a:t>again</a:t>
            </a:r>
            <a:r>
              <a:rPr lang="de-DE" sz="1300" dirty="0">
                <a:solidFill>
                  <a:srgbClr val="808080"/>
                </a:solidFill>
                <a:latin typeface="Studio Pro Inflection Medium" pitchFamily="2" charset="77"/>
                <a:ea typeface="SF Pro Display" pitchFamily="2" charset="0"/>
              </a:rPr>
              <a:t>. </a:t>
            </a:r>
          </a:p>
        </p:txBody>
      </p:sp>
      <p:sp>
        <p:nvSpPr>
          <p:cNvPr id="12" name="TextBox 11">
            <a:extLst>
              <a:ext uri="{FF2B5EF4-FFF2-40B4-BE49-F238E27FC236}">
                <a16:creationId xmlns:a16="http://schemas.microsoft.com/office/drawing/2014/main" id="{C564B975-4972-D9B9-D052-240B68DF190D}"/>
              </a:ext>
            </a:extLst>
          </p:cNvPr>
          <p:cNvSpPr txBox="1"/>
          <p:nvPr/>
        </p:nvSpPr>
        <p:spPr>
          <a:xfrm>
            <a:off x="6583680" y="2788920"/>
            <a:ext cx="4663440" cy="353943"/>
          </a:xfrm>
          <a:prstGeom prst="rect">
            <a:avLst/>
          </a:prstGeom>
          <a:noFill/>
        </p:spPr>
        <p:txBody>
          <a:bodyPr wrap="square">
            <a:spAutoFit/>
          </a:bodyPr>
          <a:lstStyle/>
          <a:p>
            <a:pPr algn="l">
              <a:defRPr sz="1700" b="1">
                <a:solidFill>
                  <a:srgbClr val="000000"/>
                </a:solidFill>
                <a:latin typeface="Calibri"/>
              </a:defRPr>
            </a:pPr>
            <a:r>
              <a:rPr lang="de-DE" dirty="0" err="1">
                <a:latin typeface="Studio Pro Inflection Medium" pitchFamily="2" charset="77"/>
                <a:ea typeface="SF Pro Display" pitchFamily="2" charset="0"/>
              </a:rPr>
              <a:t>We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designed</a:t>
            </a:r>
            <a:r>
              <a:rPr lang="de-DE" dirty="0">
                <a:latin typeface="Studio Pro Inflection Medium" pitchFamily="2" charset="77"/>
                <a:ea typeface="SF Pro Display" pitchFamily="2" charset="0"/>
              </a:rPr>
              <a:t> a </a:t>
            </a:r>
            <a:r>
              <a:rPr lang="de-DE" dirty="0" err="1">
                <a:latin typeface="Studio Pro Inflection Medium" pitchFamily="2" charset="77"/>
                <a:ea typeface="SF Pro Display" pitchFamily="2" charset="0"/>
              </a:rPr>
              <a:t>system</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to</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get</a:t>
            </a:r>
            <a:r>
              <a:rPr lang="de-DE" dirty="0">
                <a:latin typeface="Studio Pro Inflection Medium" pitchFamily="2" charset="77"/>
                <a:ea typeface="SF Pro Display" pitchFamily="2" charset="0"/>
              </a:rPr>
              <a:t> lucky</a:t>
            </a:r>
            <a:endParaRPr dirty="0">
              <a:latin typeface="Studio Pro Inflection Medium" pitchFamily="2" charset="77"/>
              <a:ea typeface="SF Pro Display" pitchFamily="2" charset="0"/>
            </a:endParaRPr>
          </a:p>
        </p:txBody>
      </p:sp>
      <p:sp>
        <p:nvSpPr>
          <p:cNvPr id="13" name="TextBox 12">
            <a:extLst>
              <a:ext uri="{FF2B5EF4-FFF2-40B4-BE49-F238E27FC236}">
                <a16:creationId xmlns:a16="http://schemas.microsoft.com/office/drawing/2014/main" id="{4960B887-AAAA-8996-89E1-C851527037BE}"/>
              </a:ext>
            </a:extLst>
          </p:cNvPr>
          <p:cNvSpPr txBox="1"/>
          <p:nvPr/>
        </p:nvSpPr>
        <p:spPr>
          <a:xfrm>
            <a:off x="6583680" y="3246120"/>
            <a:ext cx="4663440" cy="1086580"/>
          </a:xfrm>
          <a:prstGeom prst="rect">
            <a:avLst/>
          </a:prstGeom>
          <a:noFill/>
        </p:spPr>
        <p:txBody>
          <a:bodyPr wrap="square">
            <a:spAutoFit/>
          </a:bodyPr>
          <a:lstStyle/>
          <a:p>
            <a:pPr algn="l">
              <a:lnSpc>
                <a:spcPts val="2000"/>
              </a:lnSpc>
              <a:defRPr sz="1300" b="0">
                <a:solidFill>
                  <a:srgbClr val="808080"/>
                </a:solidFill>
                <a:latin typeface="Calibri"/>
              </a:defRPr>
            </a:pPr>
            <a:r>
              <a:rPr lang="de-DE" dirty="0" err="1">
                <a:latin typeface="Studio Pro Inflection Medium" pitchFamily="2" charset="77"/>
                <a:ea typeface="SF Pro Display" pitchFamily="2" charset="0"/>
              </a:rPr>
              <a:t>Being</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punched</a:t>
            </a:r>
            <a:r>
              <a:rPr lang="de-DE" dirty="0">
                <a:latin typeface="Studio Pro Inflection Medium" pitchFamily="2" charset="77"/>
                <a:ea typeface="SF Pro Display" pitchFamily="2" charset="0"/>
              </a:rPr>
              <a:t> in </a:t>
            </a:r>
            <a:r>
              <a:rPr lang="de-DE" dirty="0" err="1">
                <a:latin typeface="Studio Pro Inflection Medium" pitchFamily="2" charset="77"/>
                <a:ea typeface="SF Pro Display" pitchFamily="2" charset="0"/>
              </a:rPr>
              <a:t>the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face</a:t>
            </a:r>
            <a:r>
              <a:rPr lang="de-DE" dirty="0">
                <a:latin typeface="Studio Pro Inflection Medium" pitchFamily="2" charset="77"/>
                <a:ea typeface="SF Pro Display" pitchFamily="2" charset="0"/>
              </a:rPr>
              <a:t> and </a:t>
            </a:r>
            <a:r>
              <a:rPr lang="de-DE" dirty="0" err="1">
                <a:latin typeface="Studio Pro Inflection Medium" pitchFamily="2" charset="77"/>
                <a:ea typeface="SF Pro Display" pitchFamily="2" charset="0"/>
              </a:rPr>
              <a:t>therefore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focusing</a:t>
            </a:r>
            <a:r>
              <a:rPr lang="de-DE" dirty="0">
                <a:latin typeface="Studio Pro Inflection Medium" pitchFamily="2" charset="77"/>
                <a:ea typeface="SF Pro Display" pitchFamily="2" charset="0"/>
              </a:rPr>
              <a:t> on </a:t>
            </a:r>
            <a:r>
              <a:rPr lang="de-DE" dirty="0" err="1">
                <a:latin typeface="Studio Pro Inflection Medium" pitchFamily="2" charset="77"/>
                <a:ea typeface="SF Pro Display" pitchFamily="2" charset="0"/>
              </a:rPr>
              <a:t>risk</a:t>
            </a:r>
            <a:r>
              <a:rPr lang="de-DE" dirty="0">
                <a:latin typeface="Studio Pro Inflection Medium" pitchFamily="2" charset="77"/>
                <a:ea typeface="SF Pro Display" pitchFamily="2" charset="0"/>
              </a:rPr>
              <a:t> / </a:t>
            </a:r>
            <a:r>
              <a:rPr lang="de-DE" dirty="0" err="1">
                <a:latin typeface="Studio Pro Inflection Medium" pitchFamily="2" charset="77"/>
                <a:ea typeface="SF Pro Display" pitchFamily="2" charset="0"/>
              </a:rPr>
              <a:t>downside</a:t>
            </a:r>
            <a:r>
              <a:rPr lang="de-DE" dirty="0">
                <a:latin typeface="Studio Pro Inflection Medium" pitchFamily="2" charset="77"/>
                <a:ea typeface="SF Pro Display" pitchFamily="2" charset="0"/>
              </a:rPr>
              <a:t> lies in </a:t>
            </a:r>
            <a:r>
              <a:rPr lang="de-DE" dirty="0" err="1">
                <a:latin typeface="Studio Pro Inflection Medium" pitchFamily="2" charset="77"/>
                <a:ea typeface="SF Pro Display" pitchFamily="2" charset="0"/>
              </a:rPr>
              <a:t>the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nature</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of</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our</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business</a:t>
            </a:r>
            <a:r>
              <a:rPr lang="de-DE" dirty="0">
                <a:latin typeface="Studio Pro Inflection Medium" pitchFamily="2" charset="77"/>
                <a:ea typeface="SF Pro Display" pitchFamily="2" charset="0"/>
              </a:rPr>
              <a:t>. </a:t>
            </a:r>
          </a:p>
          <a:p>
            <a:pPr algn="l">
              <a:lnSpc>
                <a:spcPts val="2000"/>
              </a:lnSpc>
              <a:defRPr sz="1300" b="0">
                <a:solidFill>
                  <a:srgbClr val="808080"/>
                </a:solidFill>
                <a:latin typeface="Calibri"/>
              </a:defRPr>
            </a:pPr>
            <a:endParaRPr lang="de-DE" dirty="0">
              <a:latin typeface="Studio Pro Inflection Medium" pitchFamily="2" charset="77"/>
              <a:ea typeface="SF Pro Display" pitchFamily="2" charset="0"/>
            </a:endParaRPr>
          </a:p>
          <a:p>
            <a:pPr algn="l">
              <a:lnSpc>
                <a:spcPts val="2000"/>
              </a:lnSpc>
              <a:defRPr sz="1300" b="0">
                <a:solidFill>
                  <a:srgbClr val="808080"/>
                </a:solidFill>
                <a:latin typeface="Calibri"/>
              </a:defRPr>
            </a:pPr>
            <a:endParaRPr dirty="0">
              <a:latin typeface="Studio Pro Inflection Medium" pitchFamily="2" charset="77"/>
              <a:ea typeface="SF Pro Display" pitchFamily="2" charset="0"/>
            </a:endParaRPr>
          </a:p>
        </p:txBody>
      </p:sp>
    </p:spTree>
    <p:extLst>
      <p:ext uri="{BB962C8B-B14F-4D97-AF65-F5344CB8AC3E}">
        <p14:creationId xmlns:p14="http://schemas.microsoft.com/office/powerpoint/2010/main" val="160307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4864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THE PATH FORWARD</a:t>
            </a:r>
          </a:p>
        </p:txBody>
      </p:sp>
      <p:sp>
        <p:nvSpPr>
          <p:cNvPr id="3" name="TextBox 2"/>
          <p:cNvSpPr txBox="1"/>
          <p:nvPr/>
        </p:nvSpPr>
        <p:spPr>
          <a:xfrm>
            <a:off x="822960" y="91440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Seven moves. In order. No shortcuts.</a:t>
            </a:r>
          </a:p>
        </p:txBody>
      </p:sp>
      <p:sp>
        <p:nvSpPr>
          <p:cNvPr id="5" name="TextBox 4"/>
          <p:cNvSpPr txBox="1"/>
          <p:nvPr/>
        </p:nvSpPr>
        <p:spPr>
          <a:xfrm>
            <a:off x="960120" y="1719072"/>
            <a:ext cx="365760" cy="430887"/>
          </a:xfrm>
          <a:prstGeom prst="rect">
            <a:avLst/>
          </a:prstGeom>
          <a:noFill/>
        </p:spPr>
        <p:txBody>
          <a:bodyPr wrap="square">
            <a:spAutoFit/>
          </a:bodyPr>
          <a:lstStyle/>
          <a:p>
            <a:pPr algn="l">
              <a:defRPr sz="2200" b="1">
                <a:solidFill>
                  <a:srgbClr val="000000"/>
                </a:solidFill>
                <a:latin typeface="Calibri"/>
              </a:defRPr>
            </a:pPr>
            <a:r>
              <a:rPr dirty="0">
                <a:solidFill>
                  <a:srgbClr val="9CA2B6"/>
                </a:solidFill>
                <a:latin typeface="Studio Pro Inflection Medium" pitchFamily="2" charset="77"/>
                <a:ea typeface="SF Pro Display" pitchFamily="2" charset="0"/>
              </a:rPr>
              <a:t>1</a:t>
            </a:r>
          </a:p>
        </p:txBody>
      </p:sp>
      <p:sp>
        <p:nvSpPr>
          <p:cNvPr id="6" name="TextBox 5"/>
          <p:cNvSpPr txBox="1"/>
          <p:nvPr/>
        </p:nvSpPr>
        <p:spPr>
          <a:xfrm>
            <a:off x="1325880" y="1700784"/>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Fix the data room</a:t>
            </a:r>
          </a:p>
        </p:txBody>
      </p:sp>
      <p:sp>
        <p:nvSpPr>
          <p:cNvPr id="7" name="TextBox 6"/>
          <p:cNvSpPr txBox="1"/>
          <p:nvPr/>
        </p:nvSpPr>
        <p:spPr>
          <a:xfrm>
            <a:off x="1325880" y="1956816"/>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February. Get brutal feedback from Hutt and Isomer. What exactly triggers the "wait"?</a:t>
            </a:r>
          </a:p>
        </p:txBody>
      </p:sp>
      <p:sp>
        <p:nvSpPr>
          <p:cNvPr id="8" name="TextBox 7"/>
          <p:cNvSpPr txBox="1"/>
          <p:nvPr/>
        </p:nvSpPr>
        <p:spPr>
          <a:xfrm>
            <a:off x="5120640" y="1901952"/>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NOW</a:t>
            </a:r>
          </a:p>
        </p:txBody>
      </p:sp>
      <p:sp>
        <p:nvSpPr>
          <p:cNvPr id="10" name="TextBox 9"/>
          <p:cNvSpPr txBox="1"/>
          <p:nvPr/>
        </p:nvSpPr>
        <p:spPr>
          <a:xfrm>
            <a:off x="960120" y="2596896"/>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2</a:t>
            </a:r>
          </a:p>
        </p:txBody>
      </p:sp>
      <p:sp>
        <p:nvSpPr>
          <p:cNvPr id="11" name="TextBox 10"/>
          <p:cNvSpPr txBox="1"/>
          <p:nvPr/>
        </p:nvSpPr>
        <p:spPr>
          <a:xfrm>
            <a:off x="1325880" y="2578608"/>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Lead with identity, not data</a:t>
            </a:r>
          </a:p>
        </p:txBody>
      </p:sp>
      <p:sp>
        <p:nvSpPr>
          <p:cNvPr id="12" name="TextBox 11"/>
          <p:cNvSpPr txBox="1"/>
          <p:nvPr/>
        </p:nvSpPr>
        <p:spPr>
          <a:xfrm>
            <a:off x="1325880" y="2834640"/>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dirty="0">
                <a:latin typeface="Studio Pro Inflection Medium" pitchFamily="2" charset="77"/>
                <a:ea typeface="SF Pro Display" pitchFamily="2" charset="0"/>
              </a:rPr>
              <a:t>Fe</a:t>
            </a:r>
            <a:r>
              <a:rPr lang="de-DE" dirty="0">
                <a:latin typeface="Studio Pro Inflection Medium" pitchFamily="2" charset="77"/>
                <a:ea typeface="SF Pro Display" pitchFamily="2" charset="0"/>
              </a:rPr>
              <a:t>b -</a:t>
            </a:r>
            <a:r>
              <a:rPr dirty="0">
                <a:latin typeface="Studio Pro Inflection Medium" pitchFamily="2" charset="77"/>
                <a:ea typeface="SF Pro Display" pitchFamily="2" charset="0"/>
              </a:rPr>
              <a:t> Rewrite the pitch. Who we are first. Numbers validate the story.</a:t>
            </a:r>
          </a:p>
        </p:txBody>
      </p:sp>
      <p:sp>
        <p:nvSpPr>
          <p:cNvPr id="13" name="TextBox 12"/>
          <p:cNvSpPr txBox="1"/>
          <p:nvPr/>
        </p:nvSpPr>
        <p:spPr>
          <a:xfrm>
            <a:off x="5120640" y="2779776"/>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FEB</a:t>
            </a:r>
          </a:p>
        </p:txBody>
      </p:sp>
      <p:sp>
        <p:nvSpPr>
          <p:cNvPr id="15" name="TextBox 14"/>
          <p:cNvSpPr txBox="1"/>
          <p:nvPr/>
        </p:nvSpPr>
        <p:spPr>
          <a:xfrm>
            <a:off x="960120" y="3474720"/>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3</a:t>
            </a:r>
          </a:p>
        </p:txBody>
      </p:sp>
      <p:sp>
        <p:nvSpPr>
          <p:cNvPr id="16" name="TextBox 15"/>
          <p:cNvSpPr txBox="1"/>
          <p:nvPr/>
        </p:nvSpPr>
        <p:spPr>
          <a:xfrm>
            <a:off x="1325880" y="3456432"/>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Manufacture portfolio catalysts</a:t>
            </a:r>
          </a:p>
        </p:txBody>
      </p:sp>
      <p:sp>
        <p:nvSpPr>
          <p:cNvPr id="17" name="TextBox 16"/>
          <p:cNvSpPr txBox="1"/>
          <p:nvPr/>
        </p:nvSpPr>
        <p:spPr>
          <a:xfrm>
            <a:off x="1325880" y="3712464"/>
            <a:ext cx="3840480" cy="652423"/>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March-Oct. Pick 2-3 Mercury companies closest to milestones. Focus all support there for 90 days. Do 2-3 Mars Fund investments of $1M each.</a:t>
            </a:r>
          </a:p>
        </p:txBody>
      </p:sp>
      <p:sp>
        <p:nvSpPr>
          <p:cNvPr id="18" name="TextBox 17"/>
          <p:cNvSpPr txBox="1"/>
          <p:nvPr/>
        </p:nvSpPr>
        <p:spPr>
          <a:xfrm>
            <a:off x="5120640" y="3657600"/>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MAR</a:t>
            </a:r>
          </a:p>
        </p:txBody>
      </p:sp>
      <p:sp>
        <p:nvSpPr>
          <p:cNvPr id="20" name="TextBox 19"/>
          <p:cNvSpPr txBox="1"/>
          <p:nvPr/>
        </p:nvSpPr>
        <p:spPr>
          <a:xfrm>
            <a:off x="960120" y="4352544"/>
            <a:ext cx="365760" cy="430887"/>
          </a:xfrm>
          <a:prstGeom prst="rect">
            <a:avLst/>
          </a:prstGeom>
          <a:noFill/>
        </p:spPr>
        <p:txBody>
          <a:bodyPr wrap="square">
            <a:spAutoFit/>
          </a:bodyPr>
          <a:lstStyle/>
          <a:p>
            <a:pPr algn="l">
              <a:defRPr sz="2200" b="1">
                <a:solidFill>
                  <a:srgbClr val="000000"/>
                </a:solidFill>
                <a:latin typeface="Calibri"/>
              </a:defRPr>
            </a:pPr>
            <a:r>
              <a:rPr dirty="0">
                <a:solidFill>
                  <a:srgbClr val="9CA2B6"/>
                </a:solidFill>
                <a:latin typeface="Studio Pro Inflection Medium" pitchFamily="2" charset="77"/>
                <a:ea typeface="SF Pro Display" pitchFamily="2" charset="0"/>
              </a:rPr>
              <a:t>4</a:t>
            </a:r>
          </a:p>
        </p:txBody>
      </p:sp>
      <p:sp>
        <p:nvSpPr>
          <p:cNvPr id="21" name="TextBox 20"/>
          <p:cNvSpPr txBox="1"/>
          <p:nvPr/>
        </p:nvSpPr>
        <p:spPr>
          <a:xfrm>
            <a:off x="1325880" y="4334256"/>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Launch follow-on SPVs</a:t>
            </a:r>
          </a:p>
        </p:txBody>
      </p:sp>
      <p:sp>
        <p:nvSpPr>
          <p:cNvPr id="22" name="TextBox 21"/>
          <p:cNvSpPr txBox="1"/>
          <p:nvPr/>
        </p:nvSpPr>
        <p:spPr>
          <a:xfrm>
            <a:off x="1325880" y="4590288"/>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Q2-Q3. When catalysts hit, offer LPs co-investment into our own companies. Not random deals.</a:t>
            </a:r>
          </a:p>
        </p:txBody>
      </p:sp>
      <p:sp>
        <p:nvSpPr>
          <p:cNvPr id="23" name="TextBox 22"/>
          <p:cNvSpPr txBox="1"/>
          <p:nvPr/>
        </p:nvSpPr>
        <p:spPr>
          <a:xfrm>
            <a:off x="5120640" y="4535424"/>
            <a:ext cx="731520" cy="215444"/>
          </a:xfrm>
          <a:prstGeom prst="rect">
            <a:avLst/>
          </a:prstGeom>
          <a:noFill/>
        </p:spPr>
        <p:txBody>
          <a:bodyPr wrap="square">
            <a:spAutoFit/>
          </a:bodyPr>
          <a:lstStyle/>
          <a:p>
            <a:pPr algn="r">
              <a:defRPr sz="800" b="1">
                <a:solidFill>
                  <a:srgbClr val="808080"/>
                </a:solidFill>
                <a:latin typeface="Calibri"/>
              </a:defRPr>
            </a:pPr>
            <a:r>
              <a:rPr lang="de-DE" dirty="0">
                <a:latin typeface="Studio Pro Inflection Medium" pitchFamily="2" charset="77"/>
                <a:ea typeface="SF Pro Display" pitchFamily="2" charset="0"/>
              </a:rPr>
              <a:t>APR</a:t>
            </a:r>
            <a:endParaRPr dirty="0">
              <a:latin typeface="Studio Pro Inflection Medium" pitchFamily="2" charset="77"/>
              <a:ea typeface="SF Pro Display" pitchFamily="2" charset="0"/>
            </a:endParaRPr>
          </a:p>
        </p:txBody>
      </p:sp>
      <p:sp>
        <p:nvSpPr>
          <p:cNvPr id="25" name="TextBox 24"/>
          <p:cNvSpPr txBox="1"/>
          <p:nvPr/>
        </p:nvSpPr>
        <p:spPr>
          <a:xfrm>
            <a:off x="6446520" y="1719072"/>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5</a:t>
            </a:r>
          </a:p>
        </p:txBody>
      </p:sp>
      <p:sp>
        <p:nvSpPr>
          <p:cNvPr id="26" name="TextBox 25"/>
          <p:cNvSpPr txBox="1"/>
          <p:nvPr/>
        </p:nvSpPr>
        <p:spPr>
          <a:xfrm>
            <a:off x="6812280" y="1700784"/>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Kill the side projects</a:t>
            </a:r>
          </a:p>
        </p:txBody>
      </p:sp>
      <p:sp>
        <p:nvSpPr>
          <p:cNvPr id="27" name="TextBox 26"/>
          <p:cNvSpPr txBox="1"/>
          <p:nvPr/>
        </p:nvSpPr>
        <p:spPr>
          <a:xfrm>
            <a:off x="6812280" y="1956816"/>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Now. No marketplace. No consulting. Every hour goes to fundraising, portfolio, and deals.</a:t>
            </a:r>
          </a:p>
        </p:txBody>
      </p:sp>
      <p:sp>
        <p:nvSpPr>
          <p:cNvPr id="28" name="TextBox 27"/>
          <p:cNvSpPr txBox="1"/>
          <p:nvPr/>
        </p:nvSpPr>
        <p:spPr>
          <a:xfrm>
            <a:off x="10607040" y="1901952"/>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NOW</a:t>
            </a:r>
          </a:p>
        </p:txBody>
      </p:sp>
      <p:sp>
        <p:nvSpPr>
          <p:cNvPr id="30" name="TextBox 29"/>
          <p:cNvSpPr txBox="1"/>
          <p:nvPr/>
        </p:nvSpPr>
        <p:spPr>
          <a:xfrm>
            <a:off x="6446520" y="2596896"/>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6</a:t>
            </a:r>
          </a:p>
        </p:txBody>
      </p:sp>
      <p:sp>
        <p:nvSpPr>
          <p:cNvPr id="31" name="TextBox 30"/>
          <p:cNvSpPr txBox="1"/>
          <p:nvPr/>
        </p:nvSpPr>
        <p:spPr>
          <a:xfrm>
            <a:off x="6812280" y="2578608"/>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Re-engage ghosted LPs with momentum</a:t>
            </a:r>
          </a:p>
        </p:txBody>
      </p:sp>
      <p:sp>
        <p:nvSpPr>
          <p:cNvPr id="32" name="TextBox 31"/>
          <p:cNvSpPr txBox="1"/>
          <p:nvPr/>
        </p:nvSpPr>
        <p:spPr>
          <a:xfrm>
            <a:off x="6812280" y="2834640"/>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May. Push updated marks + new pitch to all 16 data room LPs. Different story, different energy.</a:t>
            </a:r>
          </a:p>
        </p:txBody>
      </p:sp>
      <p:sp>
        <p:nvSpPr>
          <p:cNvPr id="33" name="TextBox 32"/>
          <p:cNvSpPr txBox="1"/>
          <p:nvPr/>
        </p:nvSpPr>
        <p:spPr>
          <a:xfrm>
            <a:off x="10607040" y="2779776"/>
            <a:ext cx="731520" cy="215444"/>
          </a:xfrm>
          <a:prstGeom prst="rect">
            <a:avLst/>
          </a:prstGeom>
          <a:noFill/>
        </p:spPr>
        <p:txBody>
          <a:bodyPr wrap="square">
            <a:spAutoFit/>
          </a:bodyPr>
          <a:lstStyle/>
          <a:p>
            <a:pPr algn="r">
              <a:defRPr sz="800" b="1">
                <a:solidFill>
                  <a:srgbClr val="808080"/>
                </a:solidFill>
                <a:latin typeface="Calibri"/>
              </a:defRPr>
            </a:pPr>
            <a:r>
              <a:rPr lang="de-DE" dirty="0">
                <a:latin typeface="Studio Pro Inflection Medium" pitchFamily="2" charset="77"/>
                <a:ea typeface="SF Pro Display" pitchFamily="2" charset="0"/>
              </a:rPr>
              <a:t>NOW</a:t>
            </a:r>
            <a:endParaRPr dirty="0">
              <a:latin typeface="Studio Pro Inflection Medium" pitchFamily="2" charset="77"/>
              <a:ea typeface="SF Pro Display" pitchFamily="2" charset="0"/>
            </a:endParaRPr>
          </a:p>
        </p:txBody>
      </p:sp>
      <p:sp>
        <p:nvSpPr>
          <p:cNvPr id="40" name="TextBox 39"/>
          <p:cNvSpPr txBox="1"/>
          <p:nvPr/>
        </p:nvSpPr>
        <p:spPr>
          <a:xfrm>
            <a:off x="6446520" y="4057257"/>
            <a:ext cx="4663440" cy="276999"/>
          </a:xfrm>
          <a:prstGeom prst="rect">
            <a:avLst/>
          </a:prstGeom>
          <a:noFill/>
        </p:spPr>
        <p:txBody>
          <a:bodyPr wrap="square">
            <a:spAutoFit/>
          </a:bodyPr>
          <a:lstStyle/>
          <a:p>
            <a:pPr>
              <a:defRPr sz="1200" b="1">
                <a:solidFill>
                  <a:srgbClr val="5A6B5D"/>
                </a:solidFill>
                <a:latin typeface="Calibri"/>
              </a:defRPr>
            </a:pPr>
            <a:r>
              <a:rPr dirty="0">
                <a:latin typeface="Studio Pro Inflection Medium" pitchFamily="2" charset="77"/>
                <a:ea typeface="SF Pro Display" pitchFamily="2" charset="0"/>
              </a:rPr>
              <a:t>Target outcome</a:t>
            </a:r>
          </a:p>
        </p:txBody>
      </p:sp>
      <p:sp>
        <p:nvSpPr>
          <p:cNvPr id="41" name="TextBox 40"/>
          <p:cNvSpPr txBox="1"/>
          <p:nvPr/>
        </p:nvSpPr>
        <p:spPr>
          <a:xfrm>
            <a:off x="6446520" y="4304145"/>
            <a:ext cx="4663440" cy="652423"/>
          </a:xfrm>
          <a:prstGeom prst="rect">
            <a:avLst/>
          </a:prstGeom>
          <a:noFill/>
        </p:spPr>
        <p:txBody>
          <a:bodyPr wrap="square">
            <a:spAutoFit/>
          </a:bodyPr>
          <a:lstStyle/>
          <a:p>
            <a:pPr>
              <a:lnSpc>
                <a:spcPts val="1500"/>
              </a:lnSpc>
              <a:defRPr sz="1000" b="0">
                <a:solidFill>
                  <a:srgbClr val="808080"/>
                </a:solidFill>
                <a:latin typeface="Calibri"/>
              </a:defRPr>
            </a:pPr>
            <a:r>
              <a:rPr dirty="0">
                <a:latin typeface="Studio Pro Inflection Medium" pitchFamily="2" charset="77"/>
                <a:ea typeface="SF Pro Display" pitchFamily="2" charset="0"/>
              </a:rPr>
              <a:t>Second close at </a:t>
            </a:r>
            <a:r>
              <a:rPr b="1" dirty="0">
                <a:latin typeface="Studio Pro Inflection Medium It" pitchFamily="2" charset="77"/>
                <a:ea typeface="SF Pro Display" pitchFamily="2" charset="0"/>
              </a:rPr>
              <a:t>$15-20M by summer</a:t>
            </a:r>
            <a:r>
              <a:rPr dirty="0">
                <a:latin typeface="Studio Pro Inflection Medium" pitchFamily="2" charset="77"/>
                <a:ea typeface="SF Pro Display" pitchFamily="2" charset="0"/>
              </a:rPr>
              <a:t>. Third close at $25-35M by year-end. Momentum narrative replaces "wait and see." To hit $50M+ we can extend the fundraising timeline into 2027 (subject to LPA).</a:t>
            </a:r>
          </a:p>
        </p:txBody>
      </p:sp>
      <p:pic>
        <p:nvPicPr>
          <p:cNvPr id="42" name="Picture 41"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43" name="TextBox 42"/>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0"/>
            <a:ext cx="5029200" cy="246221"/>
          </a:xfrm>
          <a:prstGeom prst="rect">
            <a:avLst/>
          </a:prstGeom>
          <a:noFill/>
        </p:spPr>
        <p:txBody>
          <a:bodyPr wrap="square">
            <a:spAutoFit/>
          </a:bodyPr>
          <a:lstStyle/>
          <a:p>
            <a:pPr algn="l">
              <a:defRPr sz="1000" b="1">
                <a:solidFill>
                  <a:srgbClr val="808080"/>
                </a:solidFill>
                <a:latin typeface="Calibri"/>
              </a:defRPr>
            </a:pPr>
            <a:r>
              <a:rPr dirty="0">
                <a:latin typeface="Studio Pro Inflection Medium" pitchFamily="2" charset="77"/>
              </a:rPr>
              <a:t>CLOSING</a:t>
            </a:r>
          </a:p>
        </p:txBody>
      </p:sp>
      <p:sp>
        <p:nvSpPr>
          <p:cNvPr id="4" name="TextBox 3"/>
          <p:cNvSpPr txBox="1"/>
          <p:nvPr/>
        </p:nvSpPr>
        <p:spPr>
          <a:xfrm>
            <a:off x="640080" y="2560320"/>
            <a:ext cx="5029200" cy="1309461"/>
          </a:xfrm>
          <a:prstGeom prst="rect">
            <a:avLst/>
          </a:prstGeom>
          <a:noFill/>
        </p:spPr>
        <p:txBody>
          <a:bodyPr wrap="square">
            <a:spAutoFit/>
          </a:bodyPr>
          <a:lstStyle/>
          <a:p>
            <a:pPr algn="l">
              <a:lnSpc>
                <a:spcPts val="5000"/>
              </a:lnSpc>
              <a:defRPr sz="3800" b="0">
                <a:solidFill>
                  <a:srgbClr val="FFFFFF"/>
                </a:solidFill>
                <a:latin typeface="Calibri"/>
              </a:defRPr>
            </a:pPr>
            <a:r>
              <a:rPr lang="de-DE" dirty="0">
                <a:latin typeface="Studio Pro Inflection Medium" pitchFamily="2" charset="77"/>
              </a:rPr>
              <a:t>Zoom out. </a:t>
            </a:r>
          </a:p>
          <a:p>
            <a:pPr algn="l">
              <a:lnSpc>
                <a:spcPts val="5000"/>
              </a:lnSpc>
              <a:defRPr sz="3800" b="0">
                <a:solidFill>
                  <a:srgbClr val="FFFFFF"/>
                </a:solidFill>
                <a:latin typeface="Calibri"/>
              </a:defRPr>
            </a:pPr>
            <a:r>
              <a:rPr dirty="0">
                <a:latin typeface="Studio Pro Inflection Medium" pitchFamily="2" charset="77"/>
              </a:rPr>
              <a:t>This is a test.</a:t>
            </a:r>
          </a:p>
        </p:txBody>
      </p:sp>
      <p:sp>
        <p:nvSpPr>
          <p:cNvPr id="5" name="TextBox 4"/>
          <p:cNvSpPr txBox="1"/>
          <p:nvPr/>
        </p:nvSpPr>
        <p:spPr>
          <a:xfrm>
            <a:off x="640080" y="4172200"/>
            <a:ext cx="4754880" cy="1284006"/>
          </a:xfrm>
          <a:prstGeom prst="rect">
            <a:avLst/>
          </a:prstGeom>
          <a:noFill/>
        </p:spPr>
        <p:txBody>
          <a:bodyPr wrap="square">
            <a:spAutoFit/>
          </a:bodyPr>
          <a:lstStyle/>
          <a:p>
            <a:pPr algn="l">
              <a:lnSpc>
                <a:spcPts val="2400"/>
              </a:lnSpc>
              <a:defRPr sz="1500" b="0">
                <a:solidFill>
                  <a:srgbClr val="808080"/>
                </a:solidFill>
                <a:latin typeface="Calibri"/>
              </a:defRPr>
            </a:pPr>
            <a:r>
              <a:rPr dirty="0">
                <a:latin typeface="Studio Pro Inflection Medium" pitchFamily="2" charset="77"/>
              </a:rPr>
              <a:t>The hardest transition in fund management is micro to institutional. The mortality rate is high. But so is our conviction. We have done hard things before. We will do this one together.</a:t>
            </a:r>
          </a:p>
        </p:txBody>
      </p:sp>
      <p:sp>
        <p:nvSpPr>
          <p:cNvPr id="6" name="TextBox 5"/>
          <p:cNvSpPr txBox="1"/>
          <p:nvPr/>
        </p:nvSpPr>
        <p:spPr>
          <a:xfrm>
            <a:off x="6736384" y="1828800"/>
            <a:ext cx="50292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rPr>
              <a:t>We are not dying</a:t>
            </a:r>
          </a:p>
        </p:txBody>
      </p:sp>
      <p:sp>
        <p:nvSpPr>
          <p:cNvPr id="7" name="TextBox 6"/>
          <p:cNvSpPr txBox="1"/>
          <p:nvPr/>
        </p:nvSpPr>
        <p:spPr>
          <a:xfrm>
            <a:off x="6736384" y="2148840"/>
            <a:ext cx="4754880" cy="57361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rPr>
              <a:t>We have runway, committed LPs, a proven thesis, and a portfolio that is pre-inflection, not failing.</a:t>
            </a:r>
          </a:p>
        </p:txBody>
      </p:sp>
      <p:sp>
        <p:nvSpPr>
          <p:cNvPr id="8" name="TextBox 7"/>
          <p:cNvSpPr txBox="1"/>
          <p:nvPr/>
        </p:nvSpPr>
        <p:spPr>
          <a:xfrm>
            <a:off x="6736384" y="3042499"/>
            <a:ext cx="5029200" cy="353943"/>
          </a:xfrm>
          <a:prstGeom prst="rect">
            <a:avLst/>
          </a:prstGeom>
          <a:noFill/>
        </p:spPr>
        <p:txBody>
          <a:bodyPr wrap="square">
            <a:spAutoFit/>
          </a:bodyPr>
          <a:lstStyle/>
          <a:p>
            <a:pPr algn="l">
              <a:defRPr sz="1700" b="1">
                <a:solidFill>
                  <a:srgbClr val="000000"/>
                </a:solidFill>
                <a:latin typeface="Calibri"/>
              </a:defRPr>
            </a:pPr>
            <a:r>
              <a:rPr dirty="0">
                <a:latin typeface="Studio Pro Inflection Medium" pitchFamily="2" charset="77"/>
              </a:rPr>
              <a:t>The substance is right</a:t>
            </a:r>
          </a:p>
        </p:txBody>
      </p:sp>
      <p:sp>
        <p:nvSpPr>
          <p:cNvPr id="9" name="TextBox 8"/>
          <p:cNvSpPr txBox="1"/>
          <p:nvPr/>
        </p:nvSpPr>
        <p:spPr>
          <a:xfrm>
            <a:off x="6736384" y="3362539"/>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rPr>
              <a:t>8x Fund I. Sovereign compute thesis playing out. Defense pivot ahead of market. The packaging is wrong, not the product.</a:t>
            </a:r>
          </a:p>
        </p:txBody>
      </p:sp>
      <p:sp>
        <p:nvSpPr>
          <p:cNvPr id="10" name="TextBox 9"/>
          <p:cNvSpPr txBox="1"/>
          <p:nvPr/>
        </p:nvSpPr>
        <p:spPr>
          <a:xfrm>
            <a:off x="6736384" y="4389120"/>
            <a:ext cx="50292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rPr>
              <a:t>We go forward together</a:t>
            </a:r>
          </a:p>
        </p:txBody>
      </p:sp>
      <p:sp>
        <p:nvSpPr>
          <p:cNvPr id="11" name="TextBox 10"/>
          <p:cNvSpPr txBox="1"/>
          <p:nvPr/>
        </p:nvSpPr>
        <p:spPr>
          <a:xfrm>
            <a:off x="6736384" y="4709160"/>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rPr>
              <a:t>No information asymmetry. Same numbers, same pressure, same mission. For us this is </a:t>
            </a:r>
            <a:r>
              <a:rPr lang="de-DE" dirty="0" err="1">
                <a:latin typeface="Studio Pro Inflection Medium" pitchFamily="2" charset="77"/>
              </a:rPr>
              <a:t>our</a:t>
            </a:r>
            <a:r>
              <a:rPr dirty="0">
                <a:latin typeface="Studio Pro Inflection Medium" pitchFamily="2" charset="77"/>
              </a:rPr>
              <a:t> life's work. That has not changed.</a:t>
            </a:r>
          </a:p>
        </p:txBody>
      </p:sp>
      <p:sp>
        <p:nvSpPr>
          <p:cNvPr id="13" name="TextBox 12"/>
          <p:cNvSpPr txBox="1"/>
          <p:nvPr/>
        </p:nvSpPr>
        <p:spPr>
          <a:xfrm>
            <a:off x="6736384" y="6035040"/>
            <a:ext cx="2743200" cy="292388"/>
          </a:xfrm>
          <a:prstGeom prst="rect">
            <a:avLst/>
          </a:prstGeom>
          <a:noFill/>
        </p:spPr>
        <p:txBody>
          <a:bodyPr wrap="square">
            <a:spAutoFit/>
          </a:bodyPr>
          <a:lstStyle/>
          <a:p>
            <a:pPr algn="l">
              <a:defRPr sz="1300" b="0">
                <a:solidFill>
                  <a:srgbClr val="808080"/>
                </a:solidFill>
                <a:latin typeface="Calibri"/>
              </a:defRPr>
            </a:pPr>
            <a:r>
              <a:rPr dirty="0">
                <a:latin typeface="Studio Pro Inflection Medium" pitchFamily="2" charset="77"/>
              </a:rPr>
              <a:t>February 2026</a:t>
            </a:r>
          </a:p>
        </p:txBody>
      </p:sp>
      <p:pic>
        <p:nvPicPr>
          <p:cNvPr id="14" name="Picture 13" descr="logo-footer-white.png"/>
          <p:cNvPicPr>
            <a:picLocks noChangeAspect="1"/>
          </p:cNvPicPr>
          <p:nvPr/>
        </p:nvPicPr>
        <p:blipFill>
          <a:blip r:embed="rId2"/>
          <a:stretch>
            <a:fillRect/>
          </a:stretch>
        </p:blipFill>
        <p:spPr>
          <a:xfrm>
            <a:off x="640080" y="6309360"/>
            <a:ext cx="1645920" cy="236601"/>
          </a:xfrm>
          <a:prstGeom prst="rect">
            <a:avLst/>
          </a:prstGeom>
        </p:spPr>
      </p:pic>
      <p:sp>
        <p:nvSpPr>
          <p:cNvPr id="15" name="TextBox 14"/>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3616</TotalTime>
  <Words>1389</Words>
  <Application>Microsoft Macintosh PowerPoint</Application>
  <PresentationFormat>Widescreen</PresentationFormat>
  <Paragraphs>146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SF Pro Display</vt:lpstr>
      <vt:lpstr>Studio Pro</vt:lpstr>
      <vt:lpstr>Studio Pro Inflection Medium</vt:lpstr>
      <vt:lpstr>Studio Pro Inflection Medium 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Alexander Lange</cp:lastModifiedBy>
  <cp:revision>11</cp:revision>
  <cp:lastPrinted>2026-02-10T19:59:51Z</cp:lastPrinted>
  <dcterms:created xsi:type="dcterms:W3CDTF">2013-01-27T09:14:16Z</dcterms:created>
  <dcterms:modified xsi:type="dcterms:W3CDTF">2026-02-13T07:34:07Z</dcterms:modified>
  <cp:category/>
</cp:coreProperties>
</file>