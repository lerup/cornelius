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52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CCCCCC"/>
                </a:solidFill>
                <a:latin typeface="Inter"/>
              </a:rPr>
              <a:t>inflection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28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Inter"/>
              </a:rPr>
              <a:t>Hard Futures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08080"/>
                </a:solidFill>
                <a:latin typeface="Inter"/>
              </a:rPr>
              <a:t>FUND III  -  MARS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igins-fairch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The origins of venture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3BCB5"/>
                </a:solidFill>
                <a:latin typeface="Inter"/>
              </a:rPr>
              <a:t>1957</a:t>
            </a:r>
            <a:r>
              <a:rPr sz="1300" b="0">
                <a:solidFill>
                  <a:srgbClr val="CCCCCC"/>
                </a:solidFill>
                <a:latin typeface="Inter"/>
              </a:rPr>
              <a:t> - Arthur Rock backed eight scientists who walked out of Shockley Semiconductor. No business plan. No pitch deck. $1.38M from Fairchild Camera. That bet created Intel, AMD, and the entire semiconductor industry.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3BCB5"/>
                </a:solidFill>
                <a:latin typeface="Inter"/>
              </a:rPr>
              <a:t>1976</a:t>
            </a:r>
            <a:r>
              <a:rPr sz="1300" b="0">
                <a:solidFill>
                  <a:srgbClr val="CCCCCC"/>
                </a:solidFill>
                <a:latin typeface="Inter"/>
              </a:rPr>
              <a:t> - Mike Markkula drove to a garage and wrote a $250,000 check for a third of Apple. Two kids and a circuit board. No IC committee. No consensus.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99999"/>
                </a:solidFill>
                <a:latin typeface="Inter"/>
              </a:rPr>
              <a:t>Every legendary venture return came from the same place: one person's conviction about something most people could not yet evaluate.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08080"/>
                </a:solidFill>
                <a:latin typeface="Inter"/>
              </a:rPr>
              <a:t>inflection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Today the industry runs
on PE playbooks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55555"/>
                </a:solidFill>
                <a:latin typeface="Inter"/>
              </a:rPr>
              <a:t>Capital has never been this concentrated.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08080"/>
                </a:solidFill>
                <a:latin typeface="Inter"/>
              </a:rPr>
              <a:t>2024 - Top 30 firms captured 75% of all US venture capital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23160"/>
            <a:ext cx="3200400" cy="6858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96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Inter"/>
              </a:rPr>
              <a:t>46%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Top 9 firms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423160"/>
            <a:ext cx="2011680" cy="685800"/>
          </a:xfrm>
          <a:prstGeom prst="round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2496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Inter"/>
              </a:rPr>
              <a:t>29%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834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Next 21 firms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423160"/>
            <a:ext cx="1737360" cy="685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4963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08080"/>
                </a:solidFill>
                <a:latin typeface="Inter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34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3,400+ firms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08080"/>
                </a:solidFill>
                <a:latin typeface="Inter"/>
              </a:rPr>
              <a:t>2025 - It got worse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20440"/>
            <a:ext cx="4114800" cy="6400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Inter"/>
              </a:rPr>
              <a:t>50%+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Just 12 firms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520440"/>
            <a:ext cx="2743200" cy="6400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AAAAA"/>
                </a:solidFill>
                <a:latin typeface="Inter"/>
              </a:rPr>
              <a:t>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886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Everyone else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97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08080"/>
                </a:solidFill>
                <a:latin typeface="Inter"/>
              </a:rPr>
              <a:t>Where the money went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572000"/>
            <a:ext cx="4114800" cy="6400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617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Inter"/>
              </a:rPr>
              <a:t>~50%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937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into a single category: 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4572000"/>
            <a:ext cx="2286000" cy="640080"/>
          </a:xfrm>
          <a:prstGeom prst="roundRect">
            <a:avLst/>
          </a:prstGeom>
          <a:solidFill>
            <a:srgbClr val="F5F5F3"/>
          </a:solidFill>
          <a:ln w="12700">
            <a:solidFill>
              <a:srgbClr val="B4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4617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Inter"/>
              </a:rPr>
              <a:t>33%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937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08080"/>
                </a:solidFill>
                <a:latin typeface="Inter"/>
              </a:rPr>
              <a:t>into 68 mega-rounds ($500M+)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394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Inter"/>
              </a:rPr>
              <a:t>"We basically take venture risk for PE returns. I do not think any of those funds will perform as well as anyone hopes."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7150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Head of Allocations, Vanderbilt University Endowment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AAAAA"/>
                </a:solidFill>
                <a:latin typeface="Inter"/>
              </a:rPr>
              <a:t>THE VENTURE CONSENSUS TRAP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2743200"/>
            <a:ext cx="1828800" cy="4114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27614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Capital Concentrates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3200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08080"/>
                </a:solidFill>
                <a:latin typeface="Inter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3474720"/>
            <a:ext cx="1828800" cy="411480"/>
          </a:xfrm>
          <a:prstGeom prst="round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3493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Consensus Grows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3931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08080"/>
                </a:solidFill>
                <a:latin typeface="Inter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4206240"/>
            <a:ext cx="1828800" cy="411480"/>
          </a:xfrm>
          <a:prstGeom prst="roundRect">
            <a:avLst/>
          </a:prstGeom>
          <a:solidFill>
            <a:srgbClr val="B4B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42245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Prices Inflate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3931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08080"/>
                </a:solidFill>
                <a:latin typeface="Inter"/>
              </a:rPr>
              <a:t>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3474720"/>
            <a:ext cx="1828800" cy="411480"/>
          </a:xfrm>
          <a:prstGeom prst="roundRect">
            <a:avLst/>
          </a:prstGeom>
          <a:solidFill>
            <a:srgbClr val="B3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3493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Returns Compress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3200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08080"/>
                </a:solidFill>
                <a:latin typeface="Inter"/>
              </a:rPr>
              <a:t>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2179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AAAAA"/>
                </a:solidFill>
                <a:latin typeface="Inter"/>
              </a:rPr>
              <a:t>Source: PitchBook-NVCA 2024/2025; Crunchbase 2025; MIT Strategy Science,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08080"/>
                </a:solidFill>
                <a:latin typeface="Inter"/>
              </a:rPr>
              <a:t>inflection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Contrarian investing in hard domains
drives returns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7315200" cy="502920"/>
          </a:xfrm>
          <a:prstGeom prst="roundRect">
            <a:avLst/>
          </a:prstGeom>
          <a:solidFill>
            <a:srgbClr val="EEF0F5"/>
          </a:solidFill>
          <a:ln w="12700">
            <a:solidFill>
              <a:srgbClr val="B4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MIT 2024: </a:t>
            </a:r>
            <a:r>
              <a:rPr sz="1100" b="0">
                <a:solidFill>
                  <a:srgbClr val="555555"/>
                </a:solidFill>
                <a:latin typeface="Inter"/>
              </a:rPr>
              <a:t>Higher disagreement among evaluators correlates with better startup outcomes. Unique ideas spark disagreement. Common ideas spark consensus.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3BCB5"/>
                </a:solidFill>
                <a:latin typeface="Inter"/>
              </a:rPr>
              <a:t>THE INFLECTION ADVANTAGE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3200400"/>
            <a:ext cx="1828800" cy="4114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32186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Hard 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3BCB5"/>
                </a:solidFill>
                <a:latin typeface="Inter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3931920"/>
            <a:ext cx="1828800" cy="411480"/>
          </a:xfrm>
          <a:prstGeom prst="round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39502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Low Competition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4389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3BCB5"/>
                </a:solidFill>
                <a:latin typeface="Inter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4663440"/>
            <a:ext cx="1828800" cy="411480"/>
          </a:xfrm>
          <a:prstGeom prst="roundRect">
            <a:avLst/>
          </a:prstGeom>
          <a:solidFill>
            <a:srgbClr val="B4B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46817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Low Entry Prices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89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3BCB5"/>
                </a:solidFill>
                <a:latin typeface="Inter"/>
              </a:rPr>
              <a:t>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31920"/>
            <a:ext cx="1828800" cy="411480"/>
          </a:xfrm>
          <a:prstGeom prst="roundRect">
            <a:avLst/>
          </a:prstGeom>
          <a:solidFill>
            <a:srgbClr val="B3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502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High Convexity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3BCB5"/>
                </a:solidFill>
                <a:latin typeface="Inter"/>
              </a:rPr>
              <a:t>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26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Investing into hard domains is not a risk factor. It's the alpha.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114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Inter"/>
              </a:rPr>
              <a:t>Hard domains are hard to access, hard to evaluate, hard to underwrite.
Therefore competition is low and so are prices.
This increases convexity on a portfolio level.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08080"/>
                </a:solidFill>
                <a:latin typeface="Inter"/>
              </a:rPr>
              <a:t>inflection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The hard futures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Inter"/>
              </a:rPr>
              <a:t>EUR 900B in sovereignty spending is a catalyst. The far larger opportunity is the commercial innovation it accelerates.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08080"/>
                </a:solidFill>
                <a:latin typeface="Inter"/>
              </a:rPr>
              <a:t>HISTORICAL: MILITARY TO CIVIL DIFFUSION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Inter"/>
              </a:rPr>
              <a:t>Steam / Railways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350008"/>
            <a:ext cx="2560320" cy="164592"/>
          </a:xfrm>
          <a:prstGeom prst="round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22219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~1830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2219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~1930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3317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08080"/>
                </a:solidFill>
                <a:latin typeface="Inter"/>
              </a:rPr>
              <a:t>100x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51460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AAAAA"/>
                </a:solidFill>
                <a:latin typeface="Inter"/>
              </a:rPr>
              <a:t>$2B → $200B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Inter"/>
              </a:rPr>
              <a:t>Nuclear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807208"/>
            <a:ext cx="1408176" cy="164592"/>
          </a:xfrm>
          <a:prstGeom prst="round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6791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1945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26791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~1985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7889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08080"/>
                </a:solidFill>
                <a:latin typeface="Inter"/>
              </a:rPr>
              <a:t>200x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97180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AAAAA"/>
                </a:solidFill>
                <a:latin typeface="Inter"/>
              </a:rPr>
              <a:t>$2B → $400B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461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Inter"/>
              </a:rPr>
              <a:t>Semiconductors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8840" y="3264408"/>
            <a:ext cx="1024128" cy="164592"/>
          </a:xfrm>
          <a:prstGeom prst="round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31363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1947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31363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~1980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2461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08080"/>
                </a:solidFill>
                <a:latin typeface="Inter"/>
              </a:rPr>
              <a:t>140x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342900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AAAAA"/>
                </a:solidFill>
                <a:latin typeface="Inter"/>
              </a:rPr>
              <a:t>$5B → $700B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7033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Inter"/>
              </a:rPr>
              <a:t>Internet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48840" y="3721608"/>
            <a:ext cx="716889" cy="164592"/>
          </a:xfrm>
          <a:prstGeom prst="round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35935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1969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99969" y="35935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~1995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7033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08080"/>
                </a:solidFill>
                <a:latin typeface="Inter"/>
              </a:rPr>
              <a:t>6000x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388620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AAAAA"/>
                </a:solidFill>
                <a:latin typeface="Inter"/>
              </a:rPr>
              <a:t>$0.5B → $3T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605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Inter"/>
              </a:rPr>
              <a:t>GPS / Satellites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48840" y="4178808"/>
            <a:ext cx="512064" cy="164592"/>
          </a:xfrm>
          <a:prstGeom prst="round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48840" y="40507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1978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95144" y="40507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~1995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1605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08080"/>
                </a:solidFill>
                <a:latin typeface="Inter"/>
              </a:rPr>
              <a:t>10x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34340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AAAAA"/>
                </a:solidFill>
                <a:latin typeface="Inter"/>
              </a:rPr>
              <a:t>$10B → $100B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6177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Inter"/>
              </a:rPr>
              <a:t>Drones / UAV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48840" y="4636008"/>
            <a:ext cx="307238" cy="164592"/>
          </a:xfrm>
          <a:prstGeom prst="round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48840" y="45079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2001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90318" y="45079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~2013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46177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08080"/>
                </a:solidFill>
                <a:latin typeface="Inter"/>
              </a:rPr>
              <a:t>16x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480060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AAAAA"/>
                </a:solidFill>
                <a:latin typeface="Inter"/>
              </a:rPr>
              <a:t>$5B → $80B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011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08080"/>
                </a:solidFill>
                <a:latin typeface="Inter"/>
              </a:rPr>
              <a:t>NOW: DIFFUSION LAG APPROACHING ZERO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3317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Inter"/>
              </a:rPr>
              <a:t>Space Economy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2350008"/>
            <a:ext cx="2560320" cy="164592"/>
          </a:xfrm>
          <a:prstGeom prst="roundRect">
            <a:avLst/>
          </a:prstGeom>
          <a:solidFill>
            <a:srgbClr val="B3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22219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2010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22219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2040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23317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55x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251460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3BCB5"/>
                </a:solidFill>
                <a:latin typeface="Inter"/>
              </a:rPr>
              <a:t>$33B → $1.8T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27889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Inter"/>
              </a:rPr>
              <a:t>Edge AI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2807208"/>
            <a:ext cx="2099462" cy="164592"/>
          </a:xfrm>
          <a:prstGeom prst="roundRect">
            <a:avLst/>
          </a:prstGeom>
          <a:solidFill>
            <a:srgbClr val="B3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26791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2015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1862" y="26791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2035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60" y="27889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35x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297180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3BCB5"/>
                </a:solidFill>
                <a:latin typeface="Inter"/>
              </a:rPr>
              <a:t>$10B → $350B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3246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Inter"/>
              </a:rPr>
              <a:t>Autonomous Robotics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38160" y="3264408"/>
            <a:ext cx="1869033" cy="164592"/>
          </a:xfrm>
          <a:prstGeom prst="roundRect">
            <a:avLst/>
          </a:prstGeom>
          <a:solidFill>
            <a:srgbClr val="B3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38160" y="31363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2010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1433" y="31363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2035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81360" y="32461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50x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342900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3BCB5"/>
                </a:solidFill>
                <a:latin typeface="Inter"/>
              </a:rPr>
              <a:t>$20B → $1T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37033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Inter"/>
              </a:rPr>
              <a:t>Hypersonics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38160" y="3721608"/>
            <a:ext cx="1536192" cy="164592"/>
          </a:xfrm>
          <a:prstGeom prst="roundRect">
            <a:avLst/>
          </a:prstGeom>
          <a:solidFill>
            <a:srgbClr val="B3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38160" y="35935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2015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08592" y="35935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2035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81360" y="37033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43x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38160" y="388620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3BCB5"/>
                </a:solidFill>
                <a:latin typeface="Inter"/>
              </a:rPr>
              <a:t>$7B → $300B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41605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Inter"/>
              </a:rPr>
              <a:t>Distributed Mfg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138160" y="4178808"/>
            <a:ext cx="1280160" cy="164592"/>
          </a:xfrm>
          <a:prstGeom prst="roundRect">
            <a:avLst/>
          </a:prstGeom>
          <a:solidFill>
            <a:srgbClr val="B3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38160" y="40507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2018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0" y="40507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2035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81360" y="41605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60x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34340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3BCB5"/>
                </a:solidFill>
                <a:latin typeface="Inter"/>
              </a:rPr>
              <a:t>$5B → $300B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0" y="46177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Inter"/>
              </a:rPr>
              <a:t>Frontier Compute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138160" y="4636008"/>
            <a:ext cx="1024128" cy="164592"/>
          </a:xfrm>
          <a:prstGeom prst="roundRect">
            <a:avLst/>
          </a:prstGeom>
          <a:solidFill>
            <a:srgbClr val="B3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38160" y="45079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2020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96528" y="45079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AAAAA"/>
                </a:solidFill>
                <a:latin typeface="Inter"/>
              </a:rPr>
              <a:t>2040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81360" y="46177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250x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38160" y="480060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3BCB5"/>
                </a:solidFill>
                <a:latin typeface="Inter"/>
              </a:rPr>
              <a:t>$2B → $500B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555"/>
                </a:solidFill>
                <a:latin typeface="Inter"/>
              </a:rPr>
              <a:t>The diffusion lag from military invention to commercial market has collapsed from centuries to decades to years. Fund III invests at the moment this lag approaches zero.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62179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AAAAA"/>
                </a:solidFill>
                <a:latin typeface="Inter"/>
              </a:rPr>
              <a:t>Market sizing: McKinsey, Morgan Stanley, Teal Group, Grand View Research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08080"/>
                </a:solidFill>
                <a:latin typeface="Inter"/>
              </a:rPr>
              <a:t>inflection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We invest in hard futures at pre-seed
where few can follow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011680"/>
            <a:ext cx="2011680" cy="6400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image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Radical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Perpetual flight - stratospheric platforms at 20km altitude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2011680"/>
            <a:ext cx="2011680" cy="6400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148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image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Deep Earth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926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Geospatial AI mapping the earth's subsurface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2011680"/>
            <a:ext cx="2011680" cy="6400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148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image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Foundational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926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Space laser ranging for ultra-precise geodetic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011680"/>
            <a:ext cx="2011680" cy="6400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2148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image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Fabric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926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Custom silicon for encrypted computation and edge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2011680"/>
            <a:ext cx="2011680" cy="6400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2148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image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Ubitium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926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Universal processor for any AI workload at the edge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566160"/>
            <a:ext cx="2011680" cy="6400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703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image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251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Hedy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480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Network invisibility in contested environments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0" y="3566160"/>
            <a:ext cx="2011680" cy="6400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3703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image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251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NAD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480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Modular air defence - Europe's Iron Dome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49240" y="3566160"/>
            <a:ext cx="2011680" cy="6400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3703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image 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4251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Ark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4480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Autonomous fleet control for drones and robots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0" y="3566160"/>
            <a:ext cx="2011680" cy="6400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3703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image 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251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Levtek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4480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General-purpose industrial robots for blue-collar workers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29800" y="3566160"/>
            <a:ext cx="2011680" cy="6400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9800" y="3703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image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4251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Lodestar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4480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Bodyguard satellites - robotic protection of orbital assets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5303520"/>
            <a:ext cx="3291840" cy="594360"/>
          </a:xfrm>
          <a:prstGeom prst="roundRect">
            <a:avLst/>
          </a:prstGeom>
          <a:noFill/>
          <a:ln w="12700">
            <a:solidFill>
              <a:srgbClr val="B3B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53492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BCB5"/>
                </a:solidFill>
                <a:latin typeface="Inter"/>
              </a:rPr>
              <a:t>Physically hard to reach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5577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Stratosphere. Orbit. Underground. Contested zones.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34840" y="5303520"/>
            <a:ext cx="3291840" cy="594360"/>
          </a:xfrm>
          <a:prstGeom prst="roundRect">
            <a:avLst/>
          </a:prstGeom>
          <a:noFill/>
          <a:ln w="12700">
            <a:solidFill>
              <a:srgbClr val="B4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53492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ACC"/>
                </a:solidFill>
                <a:latin typeface="Inter"/>
              </a:rPr>
              <a:t>Technically hard to build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5577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Years of deep engineering before first unit ships.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01000" y="5303520"/>
            <a:ext cx="3291840" cy="59436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53492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Psychologically hard to fund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5577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No playbooks. No Gartner TAM. Dies in committee.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08080"/>
                </a:solidFill>
                <a:latin typeface="Inter"/>
              </a:rPr>
              <a:t>inflection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We systematically invest before the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371600" cy="1828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Inter"/>
              </a:rPr>
              <a:t>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08080"/>
                </a:solidFill>
                <a:latin typeface="Inter"/>
              </a:rPr>
              <a:t>Depressed crypto.
Nobody looking.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783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Inter"/>
              </a:rPr>
              <a:t>BTC at $3k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Inter"/>
              </a:rPr>
              <a:t>ETH at $200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Inter"/>
              </a:rPr>
              <a:t>Centrifuge $30M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06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Inter"/>
              </a:rPr>
              <a:t>Anytype $5M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880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Inter"/>
              </a:rPr>
              <a:t>Molecule $5M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3BCB5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8A6E"/>
                </a:solidFill>
                <a:latin typeface="Inter"/>
              </a:rPr>
              <a:t>Crypto rally 2021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8A6E"/>
                </a:solidFill>
                <a:latin typeface="Inter"/>
              </a:rPr>
              <a:t>Positions 10-50x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3BCB5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83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6A8A6E"/>
                </a:solidFill>
                <a:latin typeface="Inter"/>
              </a:rPr>
              <a:t>8x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0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08080"/>
                </a:solidFill>
                <a:latin typeface="Inter"/>
              </a:rPr>
              <a:t>TVPI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1783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6A8A6E"/>
                </a:solidFill>
                <a:latin typeface="Inter"/>
              </a:rPr>
              <a:t>3x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08080"/>
                </a:solidFill>
                <a:latin typeface="Inter"/>
              </a:rPr>
              <a:t>DPI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40480"/>
            <a:ext cx="1371600" cy="1828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31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Inter"/>
              </a:rPr>
              <a:t>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08080"/>
                </a:solidFill>
                <a:latin typeface="Inter"/>
              </a:rPr>
              <a:t>Ukraine invasion.
EU sovereignty
wake-up.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977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Inter"/>
              </a:rPr>
              <a:t>Radical 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251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Inter"/>
              </a:rPr>
              <a:t>Ubitium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526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Inter"/>
              </a:rPr>
              <a:t>Ark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800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Inter"/>
              </a:rPr>
              <a:t>Hedy 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Inter"/>
              </a:rPr>
              <a:t>NAD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297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3BCB5"/>
                </a:solidFill>
                <a:latin typeface="Inter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8A6E"/>
                </a:solidFill>
                <a:latin typeface="Inter"/>
              </a:rPr>
              <a:t>EUR 800B+ committed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8A6E"/>
                </a:solidFill>
                <a:latin typeface="Inter"/>
              </a:rPr>
              <a:t>SAFE disbursements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8A6E"/>
                </a:solidFill>
                <a:latin typeface="Inter"/>
              </a:rPr>
              <a:t>65% EU content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297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3BCB5"/>
                </a:solidFill>
                <a:latin typeface="Inter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B3BCB5"/>
                </a:solidFill>
                <a:latin typeface="Inter"/>
              </a:rPr>
              <a:t>TBD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434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08080"/>
                </a:solidFill>
                <a:latin typeface="Inter"/>
              </a:rPr>
              <a:t>Procurement wave arriving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Inter"/>
              </a:rPr>
              <a:t>2 cycles, same pattern. We invest when it is hard. The market catches up. We can do it again.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08080"/>
                </a:solidFill>
                <a:latin typeface="Inter"/>
              </a:rPr>
              <a:t>inflection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We enter at prices that create convexity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554480"/>
          <a:ext cx="9784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188720"/>
                <a:gridCol w="457200"/>
                <a:gridCol w="914400"/>
                <a:gridCol w="548640"/>
                <a:gridCol w="3474720"/>
                <a:gridCol w="914400"/>
                <a:gridCol w="548640"/>
                <a:gridCol w="731520"/>
              </a:tblGrid>
              <a:tr h="3657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Inv /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Own%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Fundamentals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Mult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Hedy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Network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1.25 / 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  <a:latin typeface="Inter"/>
                        </a:defRPr>
                      </a:pPr>
                      <a:r>
                        <a:t>$3M ARR; SF + enterprise; $30M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$40M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A8A6E"/>
                          </a:solidFill>
                          <a:latin typeface="Inter"/>
                        </a:defRPr>
                      </a:pPr>
                      <a:r>
                        <a:t>4.1x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Closing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Drone + robot fleet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1.45 / 21.5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  <a:latin typeface="Inter"/>
                        </a:defRPr>
                      </a:pPr>
                      <a:r>
                        <a:t>$5M rev; $100M pipeline; 20+ UA brigades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$65M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A8A6E"/>
                          </a:solidFill>
                          <a:latin typeface="Inter"/>
                        </a:defRPr>
                      </a:pPr>
                      <a:r>
                        <a:t>3.0x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Hanseatic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Maritime intel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2.00 /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  <a:latin typeface="Inter"/>
                        </a:defRPr>
                      </a:pPr>
                      <a:r>
                        <a:t>$150M turnover 2026; $300M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$60M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A8A6E"/>
                          </a:solidFill>
                          <a:latin typeface="Inter"/>
                        </a:defRPr>
                      </a:pPr>
                      <a:r>
                        <a:t>2.4x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Term 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NAD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Modular air defence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1.50 /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  <a:latin typeface="Inter"/>
                        </a:defRPr>
                      </a:pPr>
                      <a:r>
                        <a:t>Working prototype; $100M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$56M+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A8A6E"/>
                          </a:solidFill>
                          <a:latin typeface="Inter"/>
                        </a:defRPr>
                      </a:pPr>
                      <a:r>
                        <a:t>2.2x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Equity imm.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Levtek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Industrial robots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1.18 / 12.25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  <a:latin typeface="Inter"/>
                        </a:defRPr>
                      </a:pPr>
                      <a:r>
                        <a:t>5 units IKEA/Sony; $500K rev Y1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Radical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Stratospheric flight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1.00 / 17.5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  <a:latin typeface="Inter"/>
                        </a:defRPr>
                      </a:pPr>
                      <a:r>
                        <a:t>Virgin flight Q3 2025; $50M+ LOIs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Raising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Foundational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Space laser ranging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1.50 /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  <a:latin typeface="Inter"/>
                        </a:defRPr>
                      </a:pPr>
                      <a:r>
                        <a:t>$5M revenue; pilot station 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$25M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A8A6E"/>
                          </a:solidFill>
                          <a:latin typeface="Inter"/>
                        </a:defRPr>
                      </a:pPr>
                      <a:r>
                        <a:t>1.5x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Ubitium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Edge processor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1.10 /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  <a:latin typeface="Inter"/>
                        </a:defRPr>
                      </a:pPr>
                      <a:r>
                        <a:t>2 chip tape-outs in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Lodestar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Satellite servicing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1.77 /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  <a:latin typeface="Inter"/>
                        </a:defRPr>
                      </a:pPr>
                      <a:r>
                        <a:t>$5M rev 2026; UK→US; space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Raising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Deep Earth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Subsurface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1.00 / 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  <a:latin typeface="Inter"/>
                        </a:defRPr>
                      </a:pPr>
                      <a:r>
                        <a:t>$1M ARR in Y2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$20M (est)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A8A6E"/>
                          </a:solidFill>
                          <a:latin typeface="Inter"/>
                        </a:defRPr>
                      </a:pPr>
                      <a:r>
                        <a:t>2.1x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Fabric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808080"/>
                          </a:solidFill>
                          <a:latin typeface="Inter"/>
                        </a:defRPr>
                      </a:pPr>
                      <a:r>
                        <a:t>Encrypted silicon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2.00 / 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  <a:latin typeface="Inter"/>
                        </a:defRPr>
                      </a:pPr>
                      <a:r>
                        <a:t>$50M+ LOIs; chip taped 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Inter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Five markups between 1.5x and 4.1x. None reflected in the reported 0.95x TVPI.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Inter"/>
              </a:rPr>
              <a:t>Not because we negotiated harder. Because we were there before anyone else was looking.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08080"/>
                </a:solidFill>
                <a:latin typeface="Inter"/>
              </a:rPr>
              <a:t>inflection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We build portfolios as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828800"/>
            <a:ext cx="2926080" cy="1097280"/>
          </a:xfrm>
          <a:prstGeom prst="roundRect">
            <a:avLst/>
          </a:prstGeom>
          <a:noFill/>
          <a:ln w="12700">
            <a:solidFill>
              <a:srgbClr val="B4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BACC"/>
                </a:solidFill>
                <a:latin typeface="Inter"/>
              </a:rPr>
              <a:t>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Inter"/>
              </a:rPr>
              <a:t>Planetary
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4BACC"/>
                </a:solidFill>
                <a:latin typeface="Inter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Radical</a:t>
            </a:r>
            <a:r>
              <a:rPr sz="1200" b="0">
                <a:solidFill>
                  <a:srgbClr val="808080"/>
                </a:solidFill>
                <a:latin typeface="Inter"/>
              </a:rPr>
              <a:t>  Stratosphere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Deep Earth</a:t>
            </a:r>
            <a:r>
              <a:rPr sz="1200" b="0">
                <a:solidFill>
                  <a:srgbClr val="808080"/>
                </a:solidFill>
                <a:latin typeface="Inter"/>
              </a:rPr>
              <a:t>  Subsurface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Foundational</a:t>
            </a:r>
            <a:r>
              <a:rPr sz="1200" b="0">
                <a:solidFill>
                  <a:srgbClr val="808080"/>
                </a:solidFill>
                <a:latin typeface="Inter"/>
              </a:rPr>
              <a:t> 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828800"/>
            <a:ext cx="2926080" cy="1097280"/>
          </a:xfrm>
          <a:prstGeom prst="roundRect">
            <a:avLst/>
          </a:prstGeom>
          <a:noFill/>
          <a:ln w="12700">
            <a:solidFill>
              <a:srgbClr val="B3B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745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3BCB5"/>
                </a:solidFill>
                <a:latin typeface="Inter"/>
              </a:rPr>
              <a:t>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Inter"/>
              </a:rPr>
              <a:t>Sovereign
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3BCB5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Fabric</a:t>
            </a:r>
            <a:r>
              <a:rPr sz="1200" b="0">
                <a:solidFill>
                  <a:srgbClr val="808080"/>
                </a:solidFill>
                <a:latin typeface="Inter"/>
              </a:rPr>
              <a:t>  Encrypted silicon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74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Ubitium</a:t>
            </a:r>
            <a:r>
              <a:rPr sz="1200" b="0">
                <a:solidFill>
                  <a:srgbClr val="808080"/>
                </a:solidFill>
                <a:latin typeface="Inter"/>
              </a:rPr>
              <a:t>  Edge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840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Hedy</a:t>
            </a:r>
            <a:r>
              <a:rPr sz="1200" b="0">
                <a:solidFill>
                  <a:srgbClr val="808080"/>
                </a:solidFill>
                <a:latin typeface="Inter"/>
              </a:rPr>
              <a:t>  Network stealth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828800"/>
            <a:ext cx="2926080" cy="109728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8745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Inter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Inter"/>
              </a:rPr>
              <a:t>Autonomous
Machines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NAD</a:t>
            </a:r>
            <a:r>
              <a:rPr sz="1200" b="0">
                <a:solidFill>
                  <a:srgbClr val="808080"/>
                </a:solidFill>
                <a:latin typeface="Inter"/>
              </a:rPr>
              <a:t>  Air defence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474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Ark</a:t>
            </a:r>
            <a:r>
              <a:rPr sz="1200" b="0">
                <a:solidFill>
                  <a:srgbClr val="808080"/>
                </a:solidFill>
                <a:latin typeface="Inter"/>
              </a:rPr>
              <a:t>  Fleet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840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Levtek</a:t>
            </a:r>
            <a:r>
              <a:rPr sz="1200" b="0">
                <a:solidFill>
                  <a:srgbClr val="808080"/>
                </a:solidFill>
                <a:latin typeface="Inter"/>
              </a:rPr>
              <a:t>  Industrial robots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06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Lodestar</a:t>
            </a:r>
            <a:r>
              <a:rPr sz="1200" b="0">
                <a:solidFill>
                  <a:srgbClr val="808080"/>
                </a:solidFill>
                <a:latin typeface="Inter"/>
              </a:rPr>
              <a:t>  Orbital servicing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Inter"/>
              </a:rPr>
              <a:t>Intelligence feeds compute  →  Compute drives machines  →  The portfolio is a closed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94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08080"/>
                </a:solidFill>
                <a:latin typeface="Inter"/>
              </a:rPr>
              <a:t>The portfolio is highly synergetic. We never back competing companies.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08080"/>
                </a:solidFill>
                <a:latin typeface="Inter"/>
              </a:rPr>
              <a:t>inflection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We built through 7y of compounding conviction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Inter"/>
              </a:rPr>
              <a:t>We are engineers, operators and investors by training. We have been through hardship and are as resilient as our founders. We collaborate since 2019 (some of us since the 1990s).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3BCB5"/>
                </a:solidFill>
                <a:latin typeface="Inter"/>
              </a:rPr>
              <a:t>INVESTMENT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329184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photo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Alexander Lange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375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08080"/>
                </a:solidFill>
                <a:latin typeface="Inter"/>
              </a:rPr>
              <a:t>Founding GP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Law + Econ; top 5%; KAS fellow (top 1%). Google, fintech. 5y at Index Ventures + Earlybird. Raised $40M as Solo GP through a pandemic.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331720"/>
            <a:ext cx="329184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514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photo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1546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Jonatan Luther-Bergquist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3375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08080"/>
                </a:solidFill>
                <a:latin typeface="Inter"/>
              </a:rPr>
              <a:t>GP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520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Engineering Physicist, UU/EPFL/TUM. Top 1% in SWE aptitude tests. Published researcher. 3y UN product (500k users). 2y BCG, IT architecture.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1031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4BACC"/>
                </a:solidFill>
                <a:latin typeface="Inter"/>
              </a:rPr>
              <a:t>ENGINEERING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331720"/>
            <a:ext cx="329184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514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photo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1546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Alexander Patow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3375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08080"/>
                </a:solidFill>
                <a:latin typeface="Inter"/>
              </a:rPr>
              <a:t>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520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Mechanical engineer, BU. 4y Accenture SWE. 4y EQT / Motherbrain; founding data analytics. Board Stockholm AI. Built Inflection's entire tech stack.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72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08080"/>
                </a:solidFill>
                <a:latin typeface="Inter"/>
              </a:rPr>
              <a:t>OPERATIONS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00600"/>
            <a:ext cx="3291840" cy="548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8920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photo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Rebecca Mahoney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5778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VP Finance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800600"/>
            <a:ext cx="3291840" cy="548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48920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photo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3949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Robert Shapiro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55778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Asset &amp; Risk Mgmt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4800600"/>
            <a:ext cx="3291840" cy="548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48920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photo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53949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Jonathan Levin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55778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General Counsel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08080"/>
                </a:solidFill>
                <a:latin typeface="Inter"/>
              </a:rPr>
              <a:t>Index Ventures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08080"/>
                </a:solidFill>
                <a:latin typeface="Inter"/>
              </a:rPr>
              <a:t>Earlybird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6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08080"/>
                </a:solidFill>
                <a:latin typeface="Inter"/>
              </a:rPr>
              <a:t>Google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08080"/>
                </a:solidFill>
                <a:latin typeface="Inter"/>
              </a:rPr>
              <a:t>TUM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08080"/>
                </a:solidFill>
                <a:latin typeface="Inter"/>
              </a:rPr>
              <a:t>BCG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08080"/>
                </a:solidFill>
                <a:latin typeface="Inter"/>
              </a:rPr>
              <a:t>EPFL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08080"/>
                </a:solidFill>
                <a:latin typeface="Inter"/>
              </a:rPr>
              <a:t>EQT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08080"/>
                </a:solidFill>
                <a:latin typeface="Inter"/>
              </a:rPr>
              <a:t>inflection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Two machines to punch above our weight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114800"/>
          </a:xfrm>
          <a:prstGeom prst="roundRect">
            <a:avLst/>
          </a:prstGeom>
          <a:noFill/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08080"/>
                </a:solidFill>
                <a:latin typeface="Inter"/>
              </a:rPr>
              <a:t>DEALFLOW + PORTFOLIO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Inter"/>
              </a:rPr>
              <a:t>Matter... / EDTH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555"/>
                </a:solidFill>
                <a:latin typeface="Inter"/>
              </a:rPr>
              <a:t>We co-founded a platform that runs hackathons in defence, energy, future of computing, aerospace, bio - with a media arm. Beyond dealflow: engineering hires, BD, procurement access, portfolio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657600"/>
            <a:ext cx="4754880" cy="914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image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20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Hackathons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100s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5120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Founders scouted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5120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Domains covered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645920"/>
            <a:ext cx="5120640" cy="4114800"/>
          </a:xfrm>
          <a:prstGeom prst="roundRect">
            <a:avLst/>
          </a:prstGeom>
          <a:noFill/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7830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08080"/>
                </a:solidFill>
                <a:latin typeface="Inter"/>
              </a:rPr>
              <a:t>OPERATIONS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Inter"/>
              </a:rPr>
              <a:t>CAVI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4688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555"/>
                </a:solidFill>
                <a:latin typeface="Inter"/>
              </a:rPr>
              <a:t>Computer Aided Venture Investing. Automated deal flow scoring, portfolio monitoring, and LP reporting. Three people running what most funds need nine for.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657600"/>
            <a:ext cx="4754880" cy="914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931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  <a:latin typeface="Inter"/>
              </a:rPr>
              <a:t>[ image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120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Team members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5120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Equivalent headcount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3x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5120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Leverage ratio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43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Direct pipeline into exactly our domains. No cold outreach. No spray and pray.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08080"/>
                </a:solidFill>
                <a:latin typeface="Inter"/>
              </a:rPr>
              <a:t>inflection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Our numbers - the good, the bad, the ugly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029200" cy="1645920"/>
          </a:xfrm>
          <a:prstGeom prst="roundRect">
            <a:avLst/>
          </a:prstGeom>
          <a:noFill/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"/>
              </a:rPr>
              <a:t>Fund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08080"/>
                </a:solidFill>
                <a:latin typeface="Inter"/>
              </a:rPr>
              <a:t>$1.1M | 2019 vintage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6A8A6E"/>
                </a:solidFill>
                <a:latin typeface="Inter"/>
              </a:rPr>
              <a:t>8.0x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3.0x DPI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08080"/>
                </a:solidFill>
                <a:latin typeface="Inter"/>
              </a:rPr>
              <a:t>Proof of concept. Pandemic cut fundraise from $10M to $1.1M. Selection engine validated. 5 of 12 positions drove returns.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029200" cy="1645920"/>
          </a:xfrm>
          <a:prstGeom prst="roundRect">
            <a:avLst/>
          </a:prstGeom>
          <a:noFill/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"/>
              </a:rPr>
              <a:t>Fund 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08080"/>
                </a:solidFill>
                <a:latin typeface="Inter"/>
              </a:rPr>
              <a:t>$40M | 2022 vintage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Inter"/>
              </a:rPr>
              <a:t>0.95x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08080"/>
                </a:solidFill>
                <a:latin typeface="Inter"/>
              </a:rPr>
              <a:t>TVPI (most conservative basis)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80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08080"/>
                </a:solidFill>
                <a:latin typeface="Inter"/>
              </a:rPr>
              <a:t>Below water. Most aggressive write-downs, most conservative markups. No SAFE uplifts.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661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08080"/>
                </a:solidFill>
                <a:latin typeface="Inter"/>
              </a:rPr>
              <a:t>THE SLOPE BEHIND 0.95X - MARKUPS NOT YET IN REPORTED TVPI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31920"/>
            <a:ext cx="201168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77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Hedy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062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Inter"/>
              </a:rPr>
              <a:t>$9.8M → $40M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A8A6E"/>
                </a:solidFill>
                <a:latin typeface="Inter"/>
              </a:rPr>
              <a:t>4.1x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3931920"/>
            <a:ext cx="201168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77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2062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Inter"/>
              </a:rPr>
              <a:t>$21.5M → $65M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34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A8A6E"/>
                </a:solidFill>
                <a:latin typeface="Inter"/>
              </a:rPr>
              <a:t>3.0x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20" y="3931920"/>
            <a:ext cx="201168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3977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Hanseatic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42062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Inter"/>
              </a:rPr>
              <a:t>$25M → $60M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4434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A8A6E"/>
                </a:solidFill>
                <a:latin typeface="Inter"/>
              </a:rPr>
              <a:t>2.4x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3931920"/>
            <a:ext cx="201168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3977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NAD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2062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Inter"/>
              </a:rPr>
              <a:t>$25M → $56M+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434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A8A6E"/>
                </a:solidFill>
                <a:latin typeface="Inter"/>
              </a:rPr>
              <a:t>2.2x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64040" y="3931920"/>
            <a:ext cx="201168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3977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Foundational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42062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Inter"/>
              </a:rPr>
              <a:t>$17M → $25M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4434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A8A6E"/>
                </a:solidFill>
                <a:latin typeface="Inter"/>
              </a:rPr>
              <a:t>1.5x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a16z founders (Isomer, Hutt Capital, JT Esquibel) saw these numbers and recommitted to Fund III. </a:t>
            </a:r>
            <a:r>
              <a:rPr sz="1100" b="0">
                <a:solidFill>
                  <a:srgbClr val="555555"/>
                </a:solidFill>
                <a:latin typeface="Inter"/>
              </a:rPr>
              <a:t>Partners at General Catalyst, Point Nine, Earlybird, and Crane also committed personally to Fund II.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08080"/>
                </a:solidFill>
                <a:latin typeface="Inter"/>
              </a:rPr>
              <a:t>inflection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Fund III - Mars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2377440" cy="914400"/>
          </a:xfrm>
          <a:prstGeom prst="round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$50M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08080"/>
                </a:solidFill>
                <a:latin typeface="Inter"/>
              </a:rPr>
              <a:t>Target fund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377440" cy="914400"/>
          </a:xfrm>
          <a:prstGeom prst="roundRect">
            <a:avLst/>
          </a:prstGeom>
          <a:noFill/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08080"/>
                </a:solidFill>
                <a:latin typeface="Inter"/>
              </a:rPr>
              <a:t>Target positions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2377440" cy="914400"/>
          </a:xfrm>
          <a:prstGeom prst="round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6-10x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08080"/>
                </a:solidFill>
                <a:latin typeface="Inter"/>
              </a:rPr>
              <a:t>Target return multiple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737360"/>
            <a:ext cx="2377440" cy="914400"/>
          </a:xfrm>
          <a:prstGeom prst="roundRect">
            <a:avLst/>
          </a:prstGeom>
          <a:noFill/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10y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08080"/>
                </a:solidFill>
                <a:latin typeface="Inter"/>
              </a:rPr>
              <a:t>Fund life cycle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17520"/>
            <a:ext cx="4389120" cy="320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358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4y invest period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3017520"/>
            <a:ext cx="4389120" cy="320040"/>
          </a:xfrm>
          <a:prstGeom prst="round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0358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Harvest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3017520"/>
            <a:ext cx="2194560" cy="3200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30358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08080"/>
                </a:solidFill>
                <a:latin typeface="Inter"/>
              </a:rPr>
              <a:t>2+2y extension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6576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08080"/>
                </a:solidFill>
                <a:latin typeface="Inter"/>
              </a:rPr>
              <a:t>CAPITAL ALLOCATION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31920"/>
            <a:ext cx="8686800" cy="320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50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80% Initial investments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3931920"/>
            <a:ext cx="2331720" cy="320040"/>
          </a:xfrm>
          <a:prstGeom prst="roundRect">
            <a:avLst/>
          </a:prstGeom>
          <a:solidFill>
            <a:srgbClr val="B3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39502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Inter"/>
              </a:rPr>
              <a:t>20% Follow-on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754880"/>
            <a:ext cx="3291840" cy="10972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8006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08080"/>
                </a:solidFill>
                <a:latin typeface="Inter"/>
              </a:rPr>
              <a:t>First close - Mid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Inter"/>
              </a:rPr>
              <a:t>$6M committed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Isomer, Hutt Capital, JT Esquibel (a16z founders), Christian Reber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4754880"/>
            <a:ext cx="3291840" cy="731520"/>
          </a:xfrm>
          <a:prstGeom prst="roundRect">
            <a:avLst/>
          </a:prstGeom>
          <a:noFill/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8006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08080"/>
                </a:solidFill>
                <a:latin typeface="Inter"/>
              </a:rPr>
              <a:t>Final close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029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Inter"/>
              </a:rPr>
              <a:t>December 2026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4754880"/>
            <a:ext cx="3291840" cy="731520"/>
          </a:xfrm>
          <a:prstGeom prst="roundRect">
            <a:avLst/>
          </a:prstGeom>
          <a:noFill/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48006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08080"/>
                </a:solidFill>
                <a:latin typeface="Inter"/>
              </a:rPr>
              <a:t>Terms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5029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Inter"/>
              </a:rPr>
              <a:t>20% carry | 2% mgmt fee p.a.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08080"/>
                </a:solidFill>
                <a:latin typeface="Inter"/>
              </a:rPr>
              <a:t>inflection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Inter"/>
              </a:rPr>
              <a:t>What you need to believe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560320"/>
            <a:ext cx="6858000" cy="822960"/>
          </a:xfrm>
          <a:prstGeom prst="roundRect">
            <a:avLst/>
          </a:prstGeom>
          <a:noFill/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3BCB5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6974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Inter"/>
              </a:rPr>
              <a:t>Hard domains produce better returns than consensus domains. Difficulty filters competition and compresses entry prices.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657600"/>
            <a:ext cx="6858000" cy="822960"/>
          </a:xfrm>
          <a:prstGeom prst="roundRect">
            <a:avLst/>
          </a:prstGeom>
          <a:noFill/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3BCB5"/>
                </a:solidFill>
                <a:latin typeface="Inter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794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Inter"/>
              </a:rPr>
              <a:t>European frontier tech is a multi-decade structural shift, not a political 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754880"/>
            <a:ext cx="6858000" cy="822960"/>
          </a:xfrm>
          <a:prstGeom prst="roundRect">
            <a:avLst/>
          </a:prstGeom>
          <a:noFill/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3BCB5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8920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Inter"/>
              </a:rPr>
              <a:t>A small, thematic team with 7 years of consistency outperforms a large platform deploying across twenty sectors.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7607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08080"/>
                </a:solidFill>
                <a:latin typeface="Inter"/>
              </a:rPr>
              <a:t>Our fundraising period ends on December 31,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08080"/>
                </a:solidFill>
                <a:latin typeface="Inter"/>
              </a:rPr>
              <a:t>inflection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08080"/>
                </a:solidFill>
                <a:latin typeface="Inter"/>
              </a:rPr>
              <a:t>WHAT FOUNDERS AND LPS 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Inter"/>
              </a:rPr>
              <a:t>"You guys went repeatedly into territory that is immensely painful. That will be rewarded."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Manuel Grossmann, Armino Collective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Inter"/>
              </a:rPr>
              <a:t>"[Placeholder: founder quote about conviction or value-add]"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[Founder Name], [Company]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Inter"/>
              </a:rPr>
              <a:t>"[Placeholder: LP quote about differentiation]"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2900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[LP Name], [Organization]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404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08080"/>
                </a:solidFill>
                <a:latin typeface="Inter"/>
              </a:rPr>
              <a:t>LPS AND BACKERS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Inter"/>
              </a:rPr>
              <a:t>Isomer Capital  |  Hutt Capital  |  JT Esquibel  |  Christian Reber  |  General Catalyst  |  Point Nine  |  Earlybird  |  Crane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08080"/>
                </a:solidFill>
                <a:latin typeface="Inter"/>
              </a:rPr>
              <a:t>SELECTED WRITING AND MEDIA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Heresy and the Venture Industrial Complex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Why non-consensus investing produces better returns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Europe's New Defense - The Investment 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EUR 900B in sovereignty spending and deep 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Depth vs Breadth in Venture Capital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3464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Why thematic focus beats generalist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6324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The Anatomy of Inflections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461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Identifying phase transitions before consensus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747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Matter.../EDTH - Building the Ecosystem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5760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Hackathons and media across defense, energy, aerospace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8620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The Sovereign Compute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690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Why Europe needs its own hardware-software supply 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976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Inter"/>
              </a:rPr>
              <a:t>Why We Back First-Time Founders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805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Inter"/>
              </a:rPr>
              <a:t>Conviction-driven investing at the earliest stage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00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BACC"/>
                </a:solidFill>
                <a:latin typeface="Inter"/>
              </a:rPr>
              <a:t>inflection.xyz/blog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439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08080"/>
                </a:solidFill>
                <a:latin typeface="Inter"/>
              </a:rPr>
              <a:t>inflection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99999"/>
                </a:solidFill>
                <a:latin typeface="Inter"/>
              </a:rPr>
              <a:t>Conviction, not conformity. Curiosity, not playbooks.
We reclaim venture's origins to power a European renaissance.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